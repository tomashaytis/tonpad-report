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4"/>
  </p:notesMasterIdLst>
  <p:sldIdLst>
    <p:sldId id="256" r:id="rId2"/>
    <p:sldId id="268" r:id="rId3"/>
    <p:sldId id="269" r:id="rId4"/>
    <p:sldId id="283" r:id="rId5"/>
    <p:sldId id="292" r:id="rId6"/>
    <p:sldId id="284" r:id="rId7"/>
    <p:sldId id="290" r:id="rId8"/>
    <p:sldId id="291" r:id="rId9"/>
    <p:sldId id="287" r:id="rId10"/>
    <p:sldId id="293" r:id="rId11"/>
    <p:sldId id="288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3CE"/>
    <a:srgbClr val="D6DCE5"/>
    <a:srgbClr val="5B9BD5"/>
    <a:srgbClr val="EDED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293B27-820F-4A96-A9F6-33524E2DE888}" v="860" dt="2023-09-24T21:14:12.745"/>
    <p1510:client id="{AE71C19F-8B6A-4667-88BB-BE3837602386}" v="287" dt="2023-09-25T13:59:09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D36C68-DDAB-4D09-8E72-8E937BD7768C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48289E-2F4B-4BDB-9E3D-307BE649A8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963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415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830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164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395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441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939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4251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7A3F-73A5-C870-EE32-018887C4F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0A2DFA1-2927-6212-77E5-388031D56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A8E077B-0404-39AA-61DA-90DA5DA09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5FB339-0C78-F54F-E5A9-9B107EEE2E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4738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810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2006A-6BE7-43E8-8AD6-C09FC266B36F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84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13183-B2A1-4784-80CE-65A33D52CB0B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0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388E9-D2C3-4436-BFEE-5F0C2E0896F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74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15BC7-66CE-44BA-84C4-ADF5D358A8E5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502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5F641-8A7B-48BB-9924-29525D09D843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0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4CC1A-CDB1-4CBC-83A8-3EB958439194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6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C5F1-78C0-4305-B0EC-8CEF047F6C93}" type="datetime1">
              <a:rPr lang="ru-RU" smtClean="0"/>
              <a:t>14.12.2025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2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70FB-17C0-4434-90C8-A4668EF13565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24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5D1FD-3FC4-47EA-B2EB-FF46800F6009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02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85EE-4AB9-42CD-8126-E74FE77A9ED8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6734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B916C-83BE-4CC1-8A21-D05CD30C43DB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80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09404-ED28-47FE-9DC5-C6BCEA110D1D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01" y="1713"/>
            <a:ext cx="12192000" cy="68545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06758" y="3133146"/>
            <a:ext cx="3831772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Объектно</a:t>
            </a:r>
            <a:r>
              <a:rPr lang="en-US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/</a:t>
            </a: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шаблонно ориентированный заметочник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99501" y="4682300"/>
            <a:ext cx="3846286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Команда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Negative Technologies</a:t>
            </a:r>
            <a:b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</a:b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Участники: Барышников В.С., Елагин Д.Е., Кадников Е.В., Кадников Н.В., Томашайтис П.А.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Научный руководитель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Борисов А.Н.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99501" y="6093318"/>
            <a:ext cx="3846286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Elektra Text Pro"/>
              </a:rPr>
              <a:t>Самара, 2025</a:t>
            </a:r>
            <a:endParaRPr lang="ru-RU" dirty="0">
              <a:solidFill>
                <a:schemeClr val="bg1"/>
              </a:solidFill>
              <a:latin typeface="Elektra Text Pro"/>
            </a:endParaRPr>
          </a:p>
        </p:txBody>
      </p:sp>
    </p:spTree>
    <p:extLst>
      <p:ext uri="{BB962C8B-B14F-4D97-AF65-F5344CB8AC3E}">
        <p14:creationId xmlns:p14="http://schemas.microsoft.com/office/powerpoint/2010/main" val="3482473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1229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93CE"/>
                </a:solidFill>
              </a:rPr>
              <a:t>Приложения-заметочники </a:t>
            </a:r>
            <a:r>
              <a:rPr lang="ru-RU" sz="2000" dirty="0">
                <a:solidFill>
                  <a:prstClr val="black"/>
                </a:solidFill>
              </a:rPr>
              <a:t>– специальные программы, предназначенные для упрощения ведения заметок пользователем.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prstClr val="black"/>
                </a:solidFill>
              </a:rPr>
              <a:t>Причины, из за которых люди пользуются заметочниками</a:t>
            </a:r>
            <a:r>
              <a:rPr lang="en-US" sz="2000" dirty="0">
                <a:solidFill>
                  <a:prstClr val="black"/>
                </a:solidFill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Возможность сохранения идей в любое время.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Стилизация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Множество полезных функций для работы с заметками.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Шаблонизация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Синхронизация между устройствами.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Гибкая настройка, плагины, темы</a:t>
            </a:r>
            <a:r>
              <a:rPr lang="en-US" sz="2000" dirty="0">
                <a:solidFill>
                  <a:prstClr val="black"/>
                </a:solidFill>
              </a:rPr>
              <a:t>.</a:t>
            </a: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ВВЕДЕНИЕ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A04AAD-95F7-4896-A241-2D64A060511D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9D246-7CC0-D109-846D-CD68299A1901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96E8D57-A15D-53AF-62D3-97B31ED40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2465" y="3024436"/>
            <a:ext cx="1857707" cy="6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32EB851-BEBD-11CD-5D28-BF26A65DDB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0784" y="3670702"/>
            <a:ext cx="2458423" cy="77264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BF812702-7A5B-5A37-DC00-D2952585BC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920" t="20153" r="22475" b="23772"/>
          <a:stretch>
            <a:fillRect/>
          </a:stretch>
        </p:blipFill>
        <p:spPr>
          <a:xfrm>
            <a:off x="7642465" y="4443350"/>
            <a:ext cx="1702452" cy="84426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F1F00E5-0BA4-4126-DD31-21787237AA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972"/>
          <a:stretch>
            <a:fillRect/>
          </a:stretch>
        </p:blipFill>
        <p:spPr>
          <a:xfrm>
            <a:off x="9521539" y="5268277"/>
            <a:ext cx="1584220" cy="59235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3C309562-7C56-2C93-7964-C798D7F3C3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277" t="6120" r="23380" b="36556"/>
          <a:stretch>
            <a:fillRect/>
          </a:stretch>
        </p:blipFill>
        <p:spPr>
          <a:xfrm>
            <a:off x="9020784" y="5268277"/>
            <a:ext cx="599671" cy="61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3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021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Цель </a:t>
            </a:r>
            <a:r>
              <a:rPr lang="ru-RU" sz="2400" dirty="0"/>
              <a:t>–</a:t>
            </a:r>
            <a:r>
              <a:rPr lang="en-US" sz="2400" dirty="0"/>
              <a:t> </a:t>
            </a:r>
            <a:r>
              <a:rPr lang="ru-RU" sz="2400" dirty="0"/>
              <a:t>разработать шаблонно-ориентированный заметочник</a:t>
            </a:r>
            <a:r>
              <a:rPr lang="en-US" sz="2400" dirty="0"/>
              <a:t> c </a:t>
            </a:r>
            <a:r>
              <a:rPr lang="ru-RU" sz="2400" dirty="0"/>
              <a:t>удобным </a:t>
            </a:r>
            <a:r>
              <a:rPr lang="en-US" sz="2400" dirty="0"/>
              <a:t>UI</a:t>
            </a:r>
            <a:r>
              <a:rPr lang="ru-RU" sz="2400" dirty="0"/>
              <a:t>, базовыми функциями работы с заметками и возможностью работы с шаблонами.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Задачи: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Изучение принципов работы других приложений-заметочников.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прототипа приложения с поддержкой минимальных функций.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текстового движка, как основы приложения.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Встраивание текстового движка в приложение.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шаблонов, подключение базы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продвинутого функционала в движок и в само приложение.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ЦЕЛИ И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3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B5D0F1-9E67-3A85-9803-6E1D2EC29B3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B02C3-8DD5-BD6F-C13C-7FB749B3E95F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2469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РАСПРЕДЕЛЕНИЕ РАБОТ ПО УЧАСТНИКАМ КОМАНДЫ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4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A9EFFA9-4B67-4327-4256-F088FEB95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431773"/>
              </p:ext>
            </p:extLst>
          </p:nvPr>
        </p:nvGraphicFramePr>
        <p:xfrm>
          <a:off x="659255" y="1052970"/>
          <a:ext cx="10963445" cy="512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689">
                  <a:extLst>
                    <a:ext uri="{9D8B030D-6E8A-4147-A177-3AD203B41FA5}">
                      <a16:colId xmlns:a16="http://schemas.microsoft.com/office/drawing/2014/main" val="738736299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153514322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2715157011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420245989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3106238671"/>
                    </a:ext>
                  </a:extLst>
                </a:gridCol>
              </a:tblGrid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Томашайтис П.А.</a:t>
                      </a:r>
                      <a:br>
                        <a:rPr lang="ru-RU" dirty="0"/>
                      </a:br>
                      <a:r>
                        <a:rPr lang="ru-RU" dirty="0"/>
                        <a:t>(</a:t>
                      </a:r>
                      <a:r>
                        <a:rPr lang="en-US" dirty="0"/>
                        <a:t>Product Owner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Елагин Д.Е.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Scrum Master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Барышников В.С.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Е.В.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Н.В.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389384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Отчётность по проекту и общение с заказчиком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Механизм выбора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схемы БД </a:t>
                      </a:r>
                      <a:r>
                        <a:rPr lang="en-US" dirty="0"/>
                        <a:t>SQLite </a:t>
                      </a:r>
                      <a:r>
                        <a:rPr lang="ru-RU" dirty="0"/>
                        <a:t>для приложения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Функция поиска по именам файлов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Поиск по содержимому заметки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682066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графического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Реализация обработки ошибок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Реализация сервиса </a:t>
                      </a:r>
                      <a:r>
                        <a:rPr lang="ru-RU" dirty="0"/>
                        <a:t>для работы с файловой системой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Многовкладочный режим работы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подсистемы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497592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Разработка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базы знаний при входе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сервиса для работы с БД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Базовые операции с файлами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</a:t>
                      </a:r>
                      <a:r>
                        <a:rPr lang="en-US" dirty="0"/>
                        <a:t>UI </a:t>
                      </a:r>
                      <a:r>
                        <a:rPr lang="ru-RU" dirty="0"/>
                        <a:t>для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613441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Встраивание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панели настроек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Переключение тем в приложении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6486726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Поиск по файлам, панель стилизации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</a:t>
                      </a:r>
                      <a:r>
                        <a:rPr lang="en-US" dirty="0"/>
                        <a:t>Markdown, </a:t>
                      </a:r>
                      <a:r>
                        <a:rPr lang="ru-RU" dirty="0"/>
                        <a:t>вставка сниппетов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Инициализация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Улучшение методов шифрования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Сохранение состояния вкладок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416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43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351321" y="134465"/>
            <a:ext cx="789867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МЕТОДЫ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АЛГОРИТМЫ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БИБЛИОТЕКИ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ПРОГРАММНЫЕ СРЕДСТВА ДЛЯ РАЗРАБОТКИ ПРИЛОЖЕНИЯ-ЗАМЕТОЧНИКА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7AEC7-D7DD-D1A8-BB80-3E953F7FCEAF}"/>
              </a:ext>
            </a:extLst>
          </p:cNvPr>
          <p:cNvSpPr txBox="1"/>
          <p:nvPr/>
        </p:nvSpPr>
        <p:spPr>
          <a:xfrm>
            <a:off x="678094" y="1052974"/>
            <a:ext cx="10896771" cy="55846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Основные критерии выбора технологического стека разработки 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Высокая производительность.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Большой набор возможностей текстового редактора.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Простота и скорость развертывания приложения.</a:t>
            </a:r>
          </a:p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Выбранный язык программирования и фреймворки, их ключевые достоинства: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Язык программирования: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высокопроизводительный и кроссплатформенный.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Для работы с </a:t>
            </a:r>
            <a:r>
              <a:rPr lang="en-US" sz="2000" spc="-5" dirty="0">
                <a:ea typeface="SimSun" panose="02010600030101010101" pitchFamily="2" charset="-122"/>
              </a:rPr>
              <a:t>UI: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JavaFX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имеет множество готовых компонентов, легко стилизуется.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СУБД: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SQLite</a:t>
            </a:r>
            <a:r>
              <a:rPr lang="ru-RU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 err="1">
                <a:ea typeface="SimSun" panose="02010600030101010101" pitchFamily="2" charset="-122"/>
              </a:rPr>
              <a:t>бессерверная</a:t>
            </a:r>
            <a:r>
              <a:rPr lang="ru-RU" sz="2000" spc="-5" dirty="0">
                <a:ea typeface="SimSun" panose="02010600030101010101" pitchFamily="2" charset="-122"/>
              </a:rPr>
              <a:t> и легковесная база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Движок для стилизации заметки:</a:t>
            </a:r>
            <a:r>
              <a:rPr lang="en-US" sz="2000" spc="-5" dirty="0">
                <a:ea typeface="SimSun" panose="02010600030101010101" pitchFamily="2" charset="-122"/>
              </a:rPr>
              <a:t> </a:t>
            </a:r>
            <a:r>
              <a:rPr lang="en-US" sz="2000" spc="-5" dirty="0" err="1">
                <a:solidFill>
                  <a:srgbClr val="0093CE"/>
                </a:solidFill>
                <a:ea typeface="SimSun" panose="02010600030101010101" pitchFamily="2" charset="-122"/>
              </a:rPr>
              <a:t>ProseMirror</a:t>
            </a:r>
            <a:r>
              <a:rPr lang="ru-RU" sz="2000" spc="-5" dirty="0">
                <a:ea typeface="SimSun" panose="02010600030101010101" pitchFamily="2" charset="-122"/>
              </a:rPr>
              <a:t> - </a:t>
            </a:r>
            <a:r>
              <a:rPr lang="ru-RU" sz="2000" dirty="0"/>
              <a:t>структурированная модель документа и транзакционная обработка изменений.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000" spc="-5" dirty="0">
              <a:ea typeface="SimSun" panose="02010600030101010101" pitchFamily="2" charset="-122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053785-7D9C-AD84-F5FD-355C274C4E84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1D7124-51A1-5EA4-69CF-DBF30F1FC67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B193E5-868A-4385-B572-1D18ACB5687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997" y="1609161"/>
            <a:ext cx="609524" cy="60952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E2FA45E-25D6-4850-A6FA-F313B08E7D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511" y="1737750"/>
            <a:ext cx="688584" cy="1262863"/>
          </a:xfrm>
          <a:prstGeom prst="rect">
            <a:avLst/>
          </a:prstGeom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8E036C0-9971-4C92-528D-257DD7B15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618" y="1570887"/>
            <a:ext cx="609524" cy="686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9A5EEB32-9136-B478-B5FE-6FE18B31E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665" y="1894242"/>
            <a:ext cx="1021601" cy="1106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212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6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1EE126-5514-459A-9981-CF5A0A3EF382}"/>
              </a:ext>
            </a:extLst>
          </p:cNvPr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A56218D-92ED-4585-B0C8-4331558420DC}"/>
              </a:ext>
            </a:extLst>
          </p:cNvPr>
          <p:cNvPicPr/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84" t="1697" r="992" b="1305"/>
          <a:stretch>
            <a:fillRect/>
          </a:stretch>
        </p:blipFill>
        <p:spPr bwMode="auto">
          <a:xfrm>
            <a:off x="3166300" y="1662825"/>
            <a:ext cx="5099527" cy="419114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1AF3CD-421E-41D9-866E-29DC73608A7B}"/>
              </a:ext>
            </a:extLst>
          </p:cNvPr>
          <p:cNvSpPr txBox="1"/>
          <p:nvPr/>
        </p:nvSpPr>
        <p:spPr>
          <a:xfrm>
            <a:off x="678093" y="1157845"/>
            <a:ext cx="9586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обработки изменения содержимого узлов</a:t>
            </a:r>
            <a:r>
              <a:rPr lang="en-US" sz="2000" spc="-5" dirty="0">
                <a:ea typeface="SimSun" panose="02010600030101010101" pitchFamily="2" charset="-122"/>
              </a:rPr>
              <a:t> ProseMirror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62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7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F5C796-4F31-40C9-82DA-F443F624E048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шифрования содержимого заметки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DADFA0-16B9-4859-9107-8E2803433C9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25" r="37500"/>
          <a:stretch/>
        </p:blipFill>
        <p:spPr>
          <a:xfrm>
            <a:off x="3106168" y="1658904"/>
            <a:ext cx="5581979" cy="445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7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ЗАГОЛОВОК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8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7AFFE9-CD92-4642-BF59-08A8E99D25DD}"/>
              </a:ext>
            </a:extLst>
          </p:cNvPr>
          <p:cNvSpPr txBox="1"/>
          <p:nvPr/>
        </p:nvSpPr>
        <p:spPr>
          <a:xfrm>
            <a:off x="3048000" y="2988816"/>
            <a:ext cx="609600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spc="-5" dirty="0">
                <a:ea typeface="SimSun" panose="02010600030101010101" pitchFamily="2" charset="-122"/>
              </a:rPr>
              <a:t>ВОЗМОЖНО ТУТ ПРО МОДУЛИ ЧЕ ТО НАПИСАТЬ СТОИТ</a:t>
            </a:r>
          </a:p>
        </p:txBody>
      </p:sp>
    </p:spTree>
    <p:extLst>
      <p:ext uri="{BB962C8B-B14F-4D97-AF65-F5344CB8AC3E}">
        <p14:creationId xmlns:p14="http://schemas.microsoft.com/office/powerpoint/2010/main" val="2268698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ОСНОВНОЙ ИНТЕРФЕЙС ПРИЛОЖЕНИЯ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9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14CE02-5CE8-4E79-BFD3-657ACCAA4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" y="1159812"/>
            <a:ext cx="4858150" cy="391002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E34D964-5096-406B-8A8A-CC009CDDA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839" y="1165404"/>
            <a:ext cx="5901200" cy="390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6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DDB1A7-9122-5BEB-7E90-BF561AA55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39ADDFB-7935-A082-4CA1-1F7A0C0C134A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ОСНОВНОЙ ИНТЕРФЕЙС ПРИЛОЖЕНИЯ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6E80F-9E77-8EDE-7F7B-E2042F57347D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620B86A-8D52-CEA5-C6B2-F93F0F52E87F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EFAE65-2966-B8B6-3D45-9D478BC56550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514D2A6-654B-0D54-4A95-8CD0E4F82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9717" y="1209522"/>
            <a:ext cx="6712565" cy="468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980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ДОСТИГНУТЫЕ РЕЗУЛЬТАТЫ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11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C50652-C9A8-4FC6-9028-2DA2E544377F}"/>
              </a:ext>
            </a:extLst>
          </p:cNvPr>
          <p:cNvSpPr txBox="1"/>
          <p:nvPr/>
        </p:nvSpPr>
        <p:spPr>
          <a:xfrm>
            <a:off x="868668" y="1472549"/>
            <a:ext cx="9687572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spc="-5" dirty="0">
                <a:solidFill>
                  <a:srgbClr val="0093CE"/>
                </a:solidFill>
                <a:ea typeface="SimSun" panose="02010600030101010101" pitchFamily="2" charset="-122"/>
              </a:rPr>
              <a:t>Удалось достичь следующих результатов: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pc="-5" dirty="0">
                <a:ea typeface="SimSun" panose="02010600030101010101" pitchFamily="2" charset="-122"/>
              </a:rPr>
              <a:t>Разработан качественный и удобный интерфейс.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pc="-5" dirty="0">
                <a:ea typeface="SimSun" panose="02010600030101010101" pitchFamily="2" charset="-122"/>
              </a:rPr>
              <a:t>Разработанное приложение кроссплатформенно.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 err="1">
                <a:ea typeface="SimSun" panose="02010600030101010101" pitchFamily="2" charset="-122"/>
              </a:rPr>
              <a:t>Заметочник</a:t>
            </a:r>
            <a:r>
              <a:rPr lang="ru-RU" sz="1800" spc="-5" dirty="0">
                <a:ea typeface="SimSun" panose="02010600030101010101" pitchFamily="2" charset="-122"/>
              </a:rPr>
              <a:t> работает быстро</a:t>
            </a:r>
            <a:r>
              <a:rPr lang="ru-RU" spc="-5" dirty="0">
                <a:ea typeface="SimSun" panose="02010600030101010101" pitchFamily="2" charset="-122"/>
              </a:rPr>
              <a:t> в 144 </a:t>
            </a:r>
            <a:r>
              <a:rPr lang="ru-RU" spc="-5" dirty="0" err="1">
                <a:ea typeface="SimSun" panose="02010600030101010101" pitchFamily="2" charset="-122"/>
              </a:rPr>
              <a:t>фпс</a:t>
            </a:r>
            <a:r>
              <a:rPr lang="ru-RU" spc="-5" dirty="0">
                <a:ea typeface="SimSun" panose="02010600030101010101" pitchFamily="2" charset="-122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>
                <a:ea typeface="SimSun" panose="02010600030101010101" pitchFamily="2" charset="-122"/>
              </a:rPr>
              <a:t>Достигнуто требование использования шаблонов при работе с приложением.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>
                <a:ea typeface="SimSun" panose="02010600030101010101" pitchFamily="2" charset="-122"/>
              </a:rPr>
              <a:t>Реализована удобная работа файлами заметок, директориями и шаблонами.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1800" spc="-5" dirty="0">
                <a:ea typeface="SimSun" panose="02010600030101010101" pitchFamily="2" charset="-122"/>
              </a:rPr>
              <a:t>Реализовано надежное шифрование заметок.</a:t>
            </a:r>
          </a:p>
        </p:txBody>
      </p:sp>
    </p:spTree>
    <p:extLst>
      <p:ext uri="{BB962C8B-B14F-4D97-AF65-F5344CB8AC3E}">
        <p14:creationId xmlns:p14="http://schemas.microsoft.com/office/powerpoint/2010/main" val="959317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19546E-3D04-7140-3782-756494C51701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9E27BC-0922-5CFB-CD0C-F5C0E1AED1A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124638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Words>629</Words>
  <Application>Microsoft Office PowerPoint</Application>
  <PresentationFormat>Широкоэкранный</PresentationFormat>
  <Paragraphs>120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SimSun</vt:lpstr>
      <vt:lpstr>Arial</vt:lpstr>
      <vt:lpstr>Calibri</vt:lpstr>
      <vt:lpstr>Calibri Light</vt:lpstr>
      <vt:lpstr>Elektra Medium Pro</vt:lpstr>
      <vt:lpstr>Elektra Text Pro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Евгений Степанов</dc:creator>
  <cp:lastModifiedBy>Павел Томашайтис</cp:lastModifiedBy>
  <cp:revision>208</cp:revision>
  <dcterms:created xsi:type="dcterms:W3CDTF">2016-03-09T10:31:39Z</dcterms:created>
  <dcterms:modified xsi:type="dcterms:W3CDTF">2025-12-14T10:06:14Z</dcterms:modified>
</cp:coreProperties>
</file>