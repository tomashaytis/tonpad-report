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7"/>
  </p:notesMasterIdLst>
  <p:sldIdLst>
    <p:sldId id="256" r:id="rId2"/>
    <p:sldId id="268" r:id="rId3"/>
    <p:sldId id="269" r:id="rId4"/>
    <p:sldId id="283" r:id="rId5"/>
    <p:sldId id="292" r:id="rId6"/>
    <p:sldId id="284" r:id="rId7"/>
    <p:sldId id="290" r:id="rId8"/>
    <p:sldId id="291" r:id="rId9"/>
    <p:sldId id="298" r:id="rId10"/>
    <p:sldId id="294" r:id="rId11"/>
    <p:sldId id="287" r:id="rId12"/>
    <p:sldId id="293" r:id="rId13"/>
    <p:sldId id="267" r:id="rId14"/>
    <p:sldId id="297" r:id="rId15"/>
    <p:sldId id="295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3CE"/>
    <a:srgbClr val="D6DCE5"/>
    <a:srgbClr val="5B9BD5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293B27-820F-4A96-A9F6-33524E2DE888}" v="860" dt="2023-09-24T21:14:12.745"/>
    <p1510:client id="{AE71C19F-8B6A-4667-88BB-BE3837602386}" v="287" dt="2023-09-25T13:59:09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741" autoAdjust="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36C68-DDAB-4D09-8E72-8E937BD7768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8289E-2F4B-4BDB-9E3D-307BE649A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7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634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415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A71B2-FAFD-8E3A-0100-42E689C3D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A166E51-DA3F-DFE5-17CC-4B2D97F33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D1DCD9-2209-09D6-20E9-6E40E8EB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421BD3-5640-84D8-6B86-7FF7F0730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8830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164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A71B2-FAFD-8E3A-0100-42E689C3D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A166E51-DA3F-DFE5-17CC-4B2D97F33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D1DCD9-2209-09D6-20E9-6E40E8EB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421BD3-5640-84D8-6B86-7FF7F0730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395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A71B2-FAFD-8E3A-0100-42E689C3D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A166E51-DA3F-DFE5-17CC-4B2D97F33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D1DCD9-2209-09D6-20E9-6E40E8EB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421BD3-5640-84D8-6B86-7FF7F0730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441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A71B2-FAFD-8E3A-0100-42E689C3D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A166E51-DA3F-DFE5-17CC-4B2D97F33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D1DCD9-2209-09D6-20E9-6E40E8EB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421BD3-5640-84D8-6B86-7FF7F0730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939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C5B5F-7611-F977-3DAF-E00A8CF1C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37CC24C-01EF-D573-ED27-9202A72B6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5BB6B3A-EDA4-19E1-591C-170FCAAC7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AC8C2D-92E8-CC07-F816-DDDB2CF1B0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885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A80D8-71E6-29C9-CE65-9CFC776D2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F70A07F-9BD8-6C8A-DBCE-28781B3A0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28FCD52-7E7E-C9D7-DFFE-2B93DC31E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0D8C66-BBC4-1CE5-73C8-53E87CCA1E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53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A71B2-FAFD-8E3A-0100-42E689C3D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A166E51-DA3F-DFE5-17CC-4B2D97F33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D1DCD9-2209-09D6-20E9-6E40E8EB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421BD3-5640-84D8-6B86-7FF7F0730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425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65EF9-F673-403A-3C76-10560FDDB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7C3AEB5-4CD3-F94F-C858-3B7F1DD85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B61CC1A-B7C0-582C-36AC-EA43B23BB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454689-C808-E444-8808-6722F60B37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69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81F5D-7C52-CEEF-BAFA-979C042C7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4D36681-3CB8-AD07-F29D-5C719D923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55DFB75-9D27-798F-558E-148669341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9F8020-4F0C-C5E6-C38E-31EA012150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6806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006A-6BE7-43E8-8AD6-C09FC266B36F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84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13183-B2A1-4784-80CE-65A33D52CB0B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8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88E9-D2C3-4436-BFEE-5F0C2E0896FE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74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BC7-66CE-44BA-84C4-ADF5D358A8E5}" type="datetime1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50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F641-8A7B-48BB-9924-29525D09D843}" type="datetime1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41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CC1A-CDB1-4CBC-83A8-3EB958439194}" type="datetime1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1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C5F1-78C0-4305-B0EC-8CEF047F6C93}" type="datetime1">
              <a:rPr lang="ru-RU" smtClean="0"/>
              <a:t>15.12.2025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14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670FB-17C0-4434-90C8-A4668EF13565}" type="datetime1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24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D1FD-3FC4-47EA-B2EB-FF46800F6009}" type="datetime1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02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85EE-4AB9-42CD-8126-E74FE77A9ED8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3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916C-83BE-4CC1-8A21-D05CD30C43DB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18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09404-ED28-47FE-9DC5-C6BCEA110D1D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6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01" y="1713"/>
            <a:ext cx="12192000" cy="68545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06758" y="3133146"/>
            <a:ext cx="383177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white"/>
                </a:solidFill>
                <a:latin typeface="Elektra Text Pro" panose="02000503030000020004" pitchFamily="50" charset="-52"/>
              </a:rPr>
              <a:t>Объектно</a:t>
            </a:r>
            <a:r>
              <a:rPr lang="en-US" sz="2000" dirty="0">
                <a:solidFill>
                  <a:prstClr val="white"/>
                </a:solidFill>
                <a:latin typeface="Elektra Text Pro" panose="02000503030000020004" pitchFamily="50" charset="-52"/>
              </a:rPr>
              <a:t>/</a:t>
            </a:r>
            <a:r>
              <a:rPr lang="ru-RU" sz="2000" dirty="0">
                <a:solidFill>
                  <a:prstClr val="white"/>
                </a:solidFill>
                <a:latin typeface="Elektra Text Pro" panose="02000503030000020004" pitchFamily="50" charset="-52"/>
              </a:rPr>
              <a:t>шаблонно ориентированный заметочник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lektra Text Pro" panose="02000503030000020004" pitchFamily="50" charset="-52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99501" y="4682300"/>
            <a:ext cx="3846286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prstClr val="white"/>
                </a:solidFill>
                <a:latin typeface="Elektra Text Pro" panose="02000503030000020004" pitchFamily="50" charset="-52"/>
              </a:rPr>
              <a:t>Команда</a:t>
            </a:r>
            <a:r>
              <a:rPr lang="en-US" sz="1400" dirty="0">
                <a:solidFill>
                  <a:prstClr val="white"/>
                </a:solidFill>
                <a:latin typeface="Elektra Text Pro" panose="02000503030000020004" pitchFamily="50" charset="-52"/>
              </a:rPr>
              <a:t>: Negative Technologies</a:t>
            </a:r>
            <a:br>
              <a:rPr lang="ru-RU" sz="1400" dirty="0">
                <a:solidFill>
                  <a:prstClr val="white"/>
                </a:solidFill>
                <a:latin typeface="Elektra Text Pro" panose="02000503030000020004" pitchFamily="50" charset="-52"/>
              </a:rPr>
            </a:br>
            <a:r>
              <a:rPr lang="ru-RU" sz="1400" dirty="0">
                <a:solidFill>
                  <a:prstClr val="white"/>
                </a:solidFill>
                <a:latin typeface="Elektra Text Pro" panose="02000503030000020004" pitchFamily="50" charset="-52"/>
              </a:rPr>
              <a:t>Участники: Барышников В.С., Елагин Д.Е., Кадников Е.В., Кадников Н.В., Томашайтис П.А.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lektra Text Pro" panose="02000503030000020004" pitchFamily="50" charset="-52"/>
                <a:ea typeface="+mn-ea"/>
                <a:cs typeface="+mn-cs"/>
              </a:rPr>
              <a:t>Научный руководитель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lektra Text Pro" panose="02000503030000020004" pitchFamily="50" charset="-52"/>
                <a:ea typeface="+mn-ea"/>
                <a:cs typeface="+mn-cs"/>
              </a:rPr>
              <a:t>: </a:t>
            </a:r>
            <a:r>
              <a:rPr lang="ru-RU" sz="1400" dirty="0">
                <a:solidFill>
                  <a:prstClr val="white"/>
                </a:solidFill>
                <a:latin typeface="Elektra Text Pro" panose="02000503030000020004" pitchFamily="50" charset="-52"/>
              </a:rPr>
              <a:t>Борисов А.Н.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lektra Text Pro" panose="02000503030000020004" pitchFamily="50" charset="-52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99501" y="6093318"/>
            <a:ext cx="384628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/>
              </a:rPr>
              <a:t>Самара, 2025</a:t>
            </a:r>
            <a:endParaRPr lang="ru-RU" dirty="0">
              <a:solidFill>
                <a:schemeClr val="bg1"/>
              </a:solidFill>
              <a:latin typeface="Elektra Text Pro"/>
            </a:endParaRPr>
          </a:p>
        </p:txBody>
      </p:sp>
    </p:spTree>
    <p:extLst>
      <p:ext uri="{BB962C8B-B14F-4D97-AF65-F5344CB8AC3E}">
        <p14:creationId xmlns:p14="http://schemas.microsoft.com/office/powerpoint/2010/main" val="3482473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8094" y="1052974"/>
            <a:ext cx="10896771" cy="51229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93CE"/>
                </a:solidFill>
              </a:rPr>
              <a:t>Приложения-заметочники </a:t>
            </a:r>
            <a:r>
              <a:rPr lang="ru-RU" sz="2000" dirty="0">
                <a:solidFill>
                  <a:prstClr val="black"/>
                </a:solidFill>
              </a:rPr>
              <a:t>– специальные программы, предназначенные для упрощения ведения заметок пользователем.</a:t>
            </a:r>
          </a:p>
          <a:p>
            <a:pPr>
              <a:lnSpc>
                <a:spcPct val="150000"/>
              </a:lnSpc>
            </a:pPr>
            <a:endParaRPr lang="ru-RU" sz="20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solidFill>
                  <a:prstClr val="black"/>
                </a:solidFill>
              </a:rPr>
              <a:t>Причины, из за которых люди пользуются заметочниками</a:t>
            </a:r>
            <a:r>
              <a:rPr lang="en-US" sz="2000" dirty="0">
                <a:solidFill>
                  <a:prstClr val="black"/>
                </a:solidFill>
              </a:rPr>
              <a:t>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000" dirty="0">
                <a:solidFill>
                  <a:prstClr val="black"/>
                </a:solidFill>
              </a:rPr>
              <a:t>Возможность сохранения идей в любое время.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000" dirty="0">
                <a:solidFill>
                  <a:prstClr val="black"/>
                </a:solidFill>
              </a:rPr>
              <a:t>Стилизация заметок.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000" dirty="0">
                <a:solidFill>
                  <a:prstClr val="black"/>
                </a:solidFill>
              </a:rPr>
              <a:t>Множество полезных функций для работы с заметками.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000" dirty="0">
                <a:solidFill>
                  <a:prstClr val="black"/>
                </a:solidFill>
              </a:rPr>
              <a:t>Шаблонизация заметок.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000" dirty="0">
                <a:solidFill>
                  <a:prstClr val="black"/>
                </a:solidFill>
              </a:rPr>
              <a:t>Синхронизация между устройствами.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ru-RU" sz="2000" dirty="0">
                <a:solidFill>
                  <a:prstClr val="black"/>
                </a:solidFill>
              </a:rPr>
              <a:t>Гибкая настройка, плагины, темы</a:t>
            </a:r>
            <a:r>
              <a:rPr lang="en-US" sz="2000" dirty="0">
                <a:solidFill>
                  <a:prstClr val="black"/>
                </a:solidFill>
              </a:rPr>
              <a:t>.</a:t>
            </a:r>
            <a:endParaRPr lang="ru-RU" sz="20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lang="ru-RU" sz="2000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51321" y="301539"/>
            <a:ext cx="78986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ВВЕДЕНИЕ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2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EA04AAD-95F7-4896-A241-2D64A060511D}"/>
              </a:ext>
            </a:extLst>
          </p:cNvPr>
          <p:cNvSpPr/>
          <p:nvPr/>
        </p:nvSpPr>
        <p:spPr>
          <a:xfrm>
            <a:off x="339048" y="6211115"/>
            <a:ext cx="10754032" cy="630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F9D246-7CC0-D109-846D-CD68299A1901}"/>
              </a:ext>
            </a:extLst>
          </p:cNvPr>
          <p:cNvSpPr txBox="1"/>
          <p:nvPr/>
        </p:nvSpPr>
        <p:spPr>
          <a:xfrm>
            <a:off x="868668" y="6211115"/>
            <a:ext cx="10336007" cy="423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sz="1600" b="1" dirty="0">
                <a:solidFill>
                  <a:srgbClr val="0093CE"/>
                </a:solidFill>
              </a:rPr>
              <a:t>Объектно/шаблонно ориентированный заметочник, </a:t>
            </a:r>
            <a:r>
              <a:rPr lang="en-US" sz="1600" b="1" dirty="0">
                <a:solidFill>
                  <a:srgbClr val="0093CE"/>
                </a:solidFill>
              </a:rPr>
              <a:t>Negative Technologies</a:t>
            </a:r>
            <a:endParaRPr lang="ru-RU" sz="1600" b="1" dirty="0">
              <a:solidFill>
                <a:srgbClr val="0093CE"/>
              </a:solidFill>
            </a:endParaRP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F96E8D57-A15D-53AF-62D3-97B31ED40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465" y="3024436"/>
            <a:ext cx="1857707" cy="642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32EB851-BEBD-11CD-5D28-BF26A65DDB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784" y="3670702"/>
            <a:ext cx="2458423" cy="772648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F812702-7A5B-5A37-DC00-D2952585BCB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920" t="20153" r="22475" b="23772"/>
          <a:stretch>
            <a:fillRect/>
          </a:stretch>
        </p:blipFill>
        <p:spPr>
          <a:xfrm>
            <a:off x="7642465" y="4443350"/>
            <a:ext cx="1702452" cy="844265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6F1F00E5-0BA4-4126-DD31-21787237AA5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3972"/>
          <a:stretch>
            <a:fillRect/>
          </a:stretch>
        </p:blipFill>
        <p:spPr>
          <a:xfrm>
            <a:off x="9521539" y="5268277"/>
            <a:ext cx="1584220" cy="592353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C309562-7C56-2C93-7964-C798D7F3C37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277" t="6120" r="23380" b="36556"/>
          <a:stretch>
            <a:fillRect/>
          </a:stretch>
        </p:blipFill>
        <p:spPr>
          <a:xfrm>
            <a:off x="9020784" y="5268277"/>
            <a:ext cx="599671" cy="61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13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8094" y="1052974"/>
            <a:ext cx="10896771" cy="50210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0093CE"/>
                </a:solidFill>
              </a:rPr>
              <a:t>Цель </a:t>
            </a:r>
            <a:r>
              <a:rPr lang="ru-RU" sz="2400" dirty="0"/>
              <a:t>–</a:t>
            </a:r>
            <a:r>
              <a:rPr lang="en-US" sz="2400" dirty="0"/>
              <a:t> </a:t>
            </a:r>
            <a:r>
              <a:rPr lang="ru-RU" sz="2400" dirty="0"/>
              <a:t>разработать шаблонно-ориентированный заметочник</a:t>
            </a:r>
            <a:r>
              <a:rPr lang="en-US" sz="2400" dirty="0"/>
              <a:t> c </a:t>
            </a:r>
            <a:r>
              <a:rPr lang="ru-RU" sz="2400" dirty="0"/>
              <a:t>удобным </a:t>
            </a:r>
            <a:r>
              <a:rPr lang="en-US" sz="2400" dirty="0"/>
              <a:t>UI</a:t>
            </a:r>
            <a:r>
              <a:rPr lang="ru-RU" sz="2400" dirty="0"/>
              <a:t>, базовыми функциями работы с заметками и возможностью работы с шаблонами.</a:t>
            </a:r>
            <a:r>
              <a:rPr lang="en-US" sz="2400" dirty="0"/>
              <a:t> 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0093CE"/>
                </a:solidFill>
              </a:rPr>
              <a:t>Задачи: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solidFill>
                  <a:prstClr val="black"/>
                </a:solidFill>
              </a:rPr>
              <a:t>Изучение принципов работы других приложений-заметочников.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solidFill>
                  <a:prstClr val="black"/>
                </a:solidFill>
              </a:rPr>
              <a:t>Разработка прототипа приложения с поддержкой минимальных функций.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solidFill>
                  <a:prstClr val="black"/>
                </a:solidFill>
              </a:rPr>
              <a:t>Разработка текстового движка, как основы приложения.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solidFill>
                  <a:prstClr val="black"/>
                </a:solidFill>
              </a:rPr>
              <a:t>Встраивание текстового движка в приложение.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solidFill>
                  <a:prstClr val="black"/>
                </a:solidFill>
              </a:rPr>
              <a:t>Добавление шаблонов, подключение базы данных.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solidFill>
                  <a:prstClr val="black"/>
                </a:solidFill>
              </a:rPr>
              <a:t>Добавление продвинутого функционала в движок и в само приложение.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1321" y="272964"/>
            <a:ext cx="78986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ЦЕЛИ И ЗАДАЧИ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3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B5D0F1-9E67-3A85-9803-6E1D2EC29B3B}"/>
              </a:ext>
            </a:extLst>
          </p:cNvPr>
          <p:cNvSpPr/>
          <p:nvPr/>
        </p:nvSpPr>
        <p:spPr>
          <a:xfrm>
            <a:off x="339048" y="6211115"/>
            <a:ext cx="10754032" cy="630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B02C3-8DD5-BD6F-C13C-7FB749B3E95F}"/>
              </a:ext>
            </a:extLst>
          </p:cNvPr>
          <p:cNvSpPr txBox="1"/>
          <p:nvPr/>
        </p:nvSpPr>
        <p:spPr>
          <a:xfrm>
            <a:off x="868668" y="6211115"/>
            <a:ext cx="10336007" cy="423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sz="1600" b="1" dirty="0">
                <a:solidFill>
                  <a:srgbClr val="0093CE"/>
                </a:solidFill>
              </a:rPr>
              <a:t>Объектно/шаблонно ориентированный заметочник, </a:t>
            </a:r>
            <a:r>
              <a:rPr lang="en-US" sz="1600" b="1" dirty="0">
                <a:solidFill>
                  <a:srgbClr val="0093CE"/>
                </a:solidFill>
              </a:rPr>
              <a:t>Negative Technologies</a:t>
            </a:r>
            <a:endParaRPr lang="ru-RU" sz="1600" b="1" dirty="0">
              <a:solidFill>
                <a:srgbClr val="0093C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469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830C5-CA2F-C192-AA2B-69D40111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044FF3-1785-AAFD-E83E-8A45A199685F}"/>
              </a:ext>
            </a:extLst>
          </p:cNvPr>
          <p:cNvSpPr txBox="1"/>
          <p:nvPr/>
        </p:nvSpPr>
        <p:spPr>
          <a:xfrm>
            <a:off x="2351321" y="301539"/>
            <a:ext cx="78986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РАСПРЕДЕЛЕНИЕ РАБОТ ПО УЧАСТНИКАМ КОМАНДЫ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7EEA4-244E-5A40-37ED-632FCB9D6A0A}"/>
              </a:ext>
            </a:extLst>
          </p:cNvPr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4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02D84EE-AE66-21DF-A65B-96962C2B2859}"/>
              </a:ext>
            </a:extLst>
          </p:cNvPr>
          <p:cNvSpPr/>
          <p:nvPr/>
        </p:nvSpPr>
        <p:spPr>
          <a:xfrm>
            <a:off x="339048" y="6211115"/>
            <a:ext cx="10754032" cy="630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9A079C-42D4-49E0-9781-9E66C4C02F78}"/>
              </a:ext>
            </a:extLst>
          </p:cNvPr>
          <p:cNvSpPr txBox="1"/>
          <p:nvPr/>
        </p:nvSpPr>
        <p:spPr>
          <a:xfrm>
            <a:off x="868668" y="6211115"/>
            <a:ext cx="10336007" cy="423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sz="1600" b="1" dirty="0">
                <a:solidFill>
                  <a:srgbClr val="0093CE"/>
                </a:solidFill>
              </a:rPr>
              <a:t>Объектно/шаблонно ориентированный заметочник, </a:t>
            </a:r>
            <a:r>
              <a:rPr lang="en-US" sz="1600" b="1" dirty="0">
                <a:solidFill>
                  <a:srgbClr val="0093CE"/>
                </a:solidFill>
              </a:rPr>
              <a:t>Negative Technologies</a:t>
            </a:r>
            <a:endParaRPr lang="ru-RU" sz="1600" b="1" dirty="0">
              <a:solidFill>
                <a:srgbClr val="0093CE"/>
              </a:solidFill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A9EFFA9-4B67-4327-4256-F088FEB95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431773"/>
              </p:ext>
            </p:extLst>
          </p:nvPr>
        </p:nvGraphicFramePr>
        <p:xfrm>
          <a:off x="659255" y="1052970"/>
          <a:ext cx="10963445" cy="5129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689">
                  <a:extLst>
                    <a:ext uri="{9D8B030D-6E8A-4147-A177-3AD203B41FA5}">
                      <a16:colId xmlns:a16="http://schemas.microsoft.com/office/drawing/2014/main" val="738736299"/>
                    </a:ext>
                  </a:extLst>
                </a:gridCol>
                <a:gridCol w="2192689">
                  <a:extLst>
                    <a:ext uri="{9D8B030D-6E8A-4147-A177-3AD203B41FA5}">
                      <a16:colId xmlns:a16="http://schemas.microsoft.com/office/drawing/2014/main" val="1535143222"/>
                    </a:ext>
                  </a:extLst>
                </a:gridCol>
                <a:gridCol w="2192689">
                  <a:extLst>
                    <a:ext uri="{9D8B030D-6E8A-4147-A177-3AD203B41FA5}">
                      <a16:colId xmlns:a16="http://schemas.microsoft.com/office/drawing/2014/main" val="2715157011"/>
                    </a:ext>
                  </a:extLst>
                </a:gridCol>
                <a:gridCol w="2192689">
                  <a:extLst>
                    <a:ext uri="{9D8B030D-6E8A-4147-A177-3AD203B41FA5}">
                      <a16:colId xmlns:a16="http://schemas.microsoft.com/office/drawing/2014/main" val="4202459892"/>
                    </a:ext>
                  </a:extLst>
                </a:gridCol>
                <a:gridCol w="2192689">
                  <a:extLst>
                    <a:ext uri="{9D8B030D-6E8A-4147-A177-3AD203B41FA5}">
                      <a16:colId xmlns:a16="http://schemas.microsoft.com/office/drawing/2014/main" val="3106238671"/>
                    </a:ext>
                  </a:extLst>
                </a:gridCol>
              </a:tblGrid>
              <a:tr h="825154">
                <a:tc>
                  <a:txBody>
                    <a:bodyPr/>
                    <a:lstStyle/>
                    <a:p>
                      <a:r>
                        <a:rPr lang="ru-RU" dirty="0"/>
                        <a:t>Томашайтис П.А.</a:t>
                      </a:r>
                      <a:br>
                        <a:rPr lang="ru-RU" dirty="0"/>
                      </a:br>
                      <a:r>
                        <a:rPr lang="ru-RU" dirty="0"/>
                        <a:t>(</a:t>
                      </a:r>
                      <a:r>
                        <a:rPr lang="en-US" dirty="0"/>
                        <a:t>Product Owner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Елагин Д.Е.</a:t>
                      </a:r>
                    </a:p>
                    <a:p>
                      <a:r>
                        <a:rPr lang="ru-RU" dirty="0"/>
                        <a:t>(</a:t>
                      </a:r>
                      <a:r>
                        <a:rPr lang="en-US" dirty="0"/>
                        <a:t>Scrum Master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Барышников В.С.</a:t>
                      </a:r>
                    </a:p>
                    <a:p>
                      <a:r>
                        <a:rPr lang="ru-RU" dirty="0"/>
                        <a:t>(</a:t>
                      </a:r>
                      <a:r>
                        <a:rPr lang="en-US" dirty="0"/>
                        <a:t>Developer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Кадников Е.В.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(</a:t>
                      </a:r>
                      <a:r>
                        <a:rPr lang="en-US" dirty="0"/>
                        <a:t>Developer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Кадников Н.В.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(</a:t>
                      </a:r>
                      <a:r>
                        <a:rPr lang="en-US" dirty="0"/>
                        <a:t>Developer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893843"/>
                  </a:ext>
                </a:extLst>
              </a:tr>
              <a:tr h="825154">
                <a:tc>
                  <a:txBody>
                    <a:bodyPr/>
                    <a:lstStyle/>
                    <a:p>
                      <a:r>
                        <a:rPr lang="ru-RU" dirty="0"/>
                        <a:t>Отчётность по проекту и общение с заказчиком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Механизм выбора базы знаний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Проектирование схемы БД </a:t>
                      </a:r>
                      <a:r>
                        <a:rPr lang="en-US" dirty="0"/>
                        <a:t>SQLite </a:t>
                      </a:r>
                      <a:r>
                        <a:rPr lang="ru-RU" dirty="0"/>
                        <a:t>для приложения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Функция поиска по именам файлов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Поиск по содержимому заметки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820663"/>
                  </a:ext>
                </a:extLst>
              </a:tr>
              <a:tr h="825154">
                <a:tc>
                  <a:txBody>
                    <a:bodyPr/>
                    <a:lstStyle/>
                    <a:p>
                      <a:r>
                        <a:rPr lang="ru-RU" dirty="0"/>
                        <a:t>Проектирование графического интерфейса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Реализация обработки ошибок в приложении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Реализация сервиса </a:t>
                      </a:r>
                      <a:r>
                        <a:rPr lang="ru-RU" dirty="0"/>
                        <a:t>для работы с файловой системой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Многовкладочный режим работы в приложении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Реализация подсистемы шифрования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497592"/>
                  </a:ext>
                </a:extLst>
              </a:tr>
              <a:tr h="825154">
                <a:tc>
                  <a:txBody>
                    <a:bodyPr/>
                    <a:lstStyle/>
                    <a:p>
                      <a:r>
                        <a:rPr lang="ru-RU" dirty="0"/>
                        <a:t>Разработка текстового движка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Проверка базы знаний при входе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Реализация сервиса для работы с БД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Базовые операции с файлами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Создание </a:t>
                      </a:r>
                      <a:r>
                        <a:rPr lang="en-US" dirty="0"/>
                        <a:t>UI </a:t>
                      </a:r>
                      <a:r>
                        <a:rPr lang="ru-RU" dirty="0"/>
                        <a:t>для шифрования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613441"/>
                  </a:ext>
                </a:extLst>
              </a:tr>
              <a:tr h="825154">
                <a:tc>
                  <a:txBody>
                    <a:bodyPr/>
                    <a:lstStyle/>
                    <a:p>
                      <a:r>
                        <a:rPr lang="ru-RU" dirty="0"/>
                        <a:t>Встраивание текстового движка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Рефакторинг кода на </a:t>
                      </a:r>
                      <a:r>
                        <a:rPr lang="en-US" dirty="0"/>
                        <a:t>Java</a:t>
                      </a:r>
                      <a:r>
                        <a:rPr lang="ru-RU" dirty="0"/>
                        <a:t>, ревью кода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Рефакторинг кода на </a:t>
                      </a:r>
                      <a:r>
                        <a:rPr lang="en-US" dirty="0"/>
                        <a:t>Java</a:t>
                      </a:r>
                      <a:r>
                        <a:rPr lang="ru-RU" dirty="0"/>
                        <a:t>, ревью кода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Создание панели настроек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Переключение тем в приложении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486726"/>
                  </a:ext>
                </a:extLst>
              </a:tr>
              <a:tr h="825154">
                <a:tc>
                  <a:txBody>
                    <a:bodyPr/>
                    <a:lstStyle/>
                    <a:p>
                      <a:r>
                        <a:rPr lang="ru-RU" dirty="0"/>
                        <a:t>Поиск по файлам, панель стилизации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Работа с </a:t>
                      </a:r>
                      <a:r>
                        <a:rPr lang="en-US" dirty="0"/>
                        <a:t>Markdown, </a:t>
                      </a:r>
                      <a:r>
                        <a:rPr lang="ru-RU" dirty="0"/>
                        <a:t>вставка сниппетов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Инициализация базы знаний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Улучшение методов шифрования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Сохранение состояния вкладок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416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434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351321" y="134465"/>
            <a:ext cx="789867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alibri"/>
                <a:cs typeface="Calibri"/>
              </a:rPr>
              <a:t>МЕТОДЫ</a:t>
            </a:r>
            <a:r>
              <a:rPr lang="en-US" dirty="0">
                <a:solidFill>
                  <a:schemeClr val="bg1"/>
                </a:solidFill>
                <a:latin typeface="Calibri"/>
                <a:cs typeface="Calibri"/>
              </a:rPr>
              <a:t>, </a:t>
            </a:r>
            <a:r>
              <a:rPr lang="ru-RU" dirty="0">
                <a:solidFill>
                  <a:schemeClr val="bg1"/>
                </a:solidFill>
                <a:latin typeface="Calibri"/>
                <a:cs typeface="Calibri"/>
              </a:rPr>
              <a:t>АЛГОРИТМЫ</a:t>
            </a:r>
            <a:r>
              <a:rPr lang="en-US" dirty="0">
                <a:solidFill>
                  <a:schemeClr val="bg1"/>
                </a:solidFill>
                <a:latin typeface="Calibri"/>
                <a:cs typeface="Calibri"/>
              </a:rPr>
              <a:t>, </a:t>
            </a:r>
            <a:r>
              <a:rPr lang="ru-RU" dirty="0">
                <a:solidFill>
                  <a:schemeClr val="bg1"/>
                </a:solidFill>
                <a:latin typeface="Calibri"/>
                <a:cs typeface="Calibri"/>
              </a:rPr>
              <a:t>БИБЛИОТЕКИ</a:t>
            </a:r>
            <a:r>
              <a:rPr lang="en-US" dirty="0">
                <a:solidFill>
                  <a:schemeClr val="bg1"/>
                </a:solidFill>
                <a:latin typeface="Calibri"/>
                <a:cs typeface="Calibri"/>
              </a:rPr>
              <a:t>, </a:t>
            </a:r>
            <a:r>
              <a:rPr lang="ru-RU" dirty="0">
                <a:solidFill>
                  <a:schemeClr val="bg1"/>
                </a:solidFill>
                <a:latin typeface="Calibri"/>
                <a:cs typeface="Calibri"/>
              </a:rPr>
              <a:t>ПРОГРАММНЫЕ СРЕДСТВА ДЛЯ РАЗРАБОТКИ ПРИЛОЖЕНИЯ-ЗАМЕТОЧНИКА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5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07AEC7-D7DD-D1A8-BB80-3E953F7FCEAF}"/>
              </a:ext>
            </a:extLst>
          </p:cNvPr>
          <p:cNvSpPr txBox="1"/>
          <p:nvPr/>
        </p:nvSpPr>
        <p:spPr>
          <a:xfrm>
            <a:off x="678094" y="1052974"/>
            <a:ext cx="10896771" cy="55846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spc="-5" dirty="0">
                <a:solidFill>
                  <a:srgbClr val="0093CE"/>
                </a:solidFill>
                <a:ea typeface="SimSun" panose="02010600030101010101" pitchFamily="2" charset="-122"/>
              </a:rPr>
              <a:t>Основные критерии выбора технологического стека разработки 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Кроссплатформенность.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Высокая производительность.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Большой набор возможностей текстового редактора.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Простота и скорость развертывания приложения.</a:t>
            </a:r>
          </a:p>
          <a:p>
            <a:pPr>
              <a:lnSpc>
                <a:spcPct val="150000"/>
              </a:lnSpc>
            </a:pPr>
            <a:r>
              <a:rPr lang="ru-RU" sz="2000" spc="-5" dirty="0">
                <a:solidFill>
                  <a:srgbClr val="0093CE"/>
                </a:solidFill>
                <a:ea typeface="SimSun" panose="02010600030101010101" pitchFamily="2" charset="-122"/>
              </a:rPr>
              <a:t>Выбранный язык программирования и фреймворки, их ключевые достоинства: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Язык программирования: </a:t>
            </a:r>
            <a:r>
              <a:rPr lang="en-US" sz="2000" spc="-5" dirty="0">
                <a:solidFill>
                  <a:srgbClr val="0093CE"/>
                </a:solidFill>
                <a:ea typeface="SimSun" panose="02010600030101010101" pitchFamily="2" charset="-122"/>
              </a:rPr>
              <a:t>Java</a:t>
            </a:r>
            <a:r>
              <a:rPr lang="en-US" sz="2000" spc="-5" dirty="0">
                <a:ea typeface="SimSun" panose="02010600030101010101" pitchFamily="2" charset="-122"/>
              </a:rPr>
              <a:t> – </a:t>
            </a:r>
            <a:r>
              <a:rPr lang="ru-RU" sz="2000" spc="-5" dirty="0">
                <a:ea typeface="SimSun" panose="02010600030101010101" pitchFamily="2" charset="-122"/>
              </a:rPr>
              <a:t>высокопроизводительный и кроссплатформенный.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Для работы с </a:t>
            </a:r>
            <a:r>
              <a:rPr lang="en-US" sz="2000" spc="-5" dirty="0">
                <a:ea typeface="SimSun" panose="02010600030101010101" pitchFamily="2" charset="-122"/>
              </a:rPr>
              <a:t>UI: </a:t>
            </a:r>
            <a:r>
              <a:rPr lang="en-US" sz="2000" spc="-5" dirty="0">
                <a:solidFill>
                  <a:srgbClr val="0093CE"/>
                </a:solidFill>
                <a:ea typeface="SimSun" panose="02010600030101010101" pitchFamily="2" charset="-122"/>
              </a:rPr>
              <a:t>JavaFX</a:t>
            </a:r>
            <a:r>
              <a:rPr lang="en-US" sz="2000" spc="-5" dirty="0">
                <a:ea typeface="SimSun" panose="02010600030101010101" pitchFamily="2" charset="-122"/>
              </a:rPr>
              <a:t> – </a:t>
            </a:r>
            <a:r>
              <a:rPr lang="ru-RU" sz="2000" spc="-5" dirty="0">
                <a:ea typeface="SimSun" panose="02010600030101010101" pitchFamily="2" charset="-122"/>
              </a:rPr>
              <a:t>имеет множество готовых компонентов, легко стилизуется.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СУБД: </a:t>
            </a:r>
            <a:r>
              <a:rPr lang="en-US" sz="2000" spc="-5" dirty="0">
                <a:solidFill>
                  <a:srgbClr val="0093CE"/>
                </a:solidFill>
                <a:ea typeface="SimSun" panose="02010600030101010101" pitchFamily="2" charset="-122"/>
              </a:rPr>
              <a:t>SQLite</a:t>
            </a:r>
            <a:r>
              <a:rPr lang="ru-RU" sz="2000" spc="-5" dirty="0">
                <a:ea typeface="SimSun" panose="02010600030101010101" pitchFamily="2" charset="-122"/>
              </a:rPr>
              <a:t> – </a:t>
            </a:r>
            <a:r>
              <a:rPr lang="ru-RU" sz="2000" spc="-5" dirty="0" err="1">
                <a:ea typeface="SimSun" panose="02010600030101010101" pitchFamily="2" charset="-122"/>
              </a:rPr>
              <a:t>бессерверная</a:t>
            </a:r>
            <a:r>
              <a:rPr lang="ru-RU" sz="2000" spc="-5" dirty="0">
                <a:ea typeface="SimSun" panose="02010600030101010101" pitchFamily="2" charset="-122"/>
              </a:rPr>
              <a:t> и легковесная база данных.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Движок для стилизации заметки:</a:t>
            </a:r>
            <a:r>
              <a:rPr lang="en-US" sz="2000" spc="-5" dirty="0">
                <a:ea typeface="SimSun" panose="02010600030101010101" pitchFamily="2" charset="-122"/>
              </a:rPr>
              <a:t> </a:t>
            </a:r>
            <a:r>
              <a:rPr lang="en-US" sz="2000" spc="-5" dirty="0" err="1">
                <a:solidFill>
                  <a:srgbClr val="0093CE"/>
                </a:solidFill>
                <a:ea typeface="SimSun" panose="02010600030101010101" pitchFamily="2" charset="-122"/>
              </a:rPr>
              <a:t>ProseMirror</a:t>
            </a:r>
            <a:r>
              <a:rPr lang="ru-RU" sz="2000" spc="-5" dirty="0">
                <a:ea typeface="SimSun" panose="02010600030101010101" pitchFamily="2" charset="-122"/>
              </a:rPr>
              <a:t> - </a:t>
            </a:r>
            <a:r>
              <a:rPr lang="ru-RU" sz="2000" dirty="0"/>
              <a:t>структурированная модель документа и транзакционная обработка изменений.</a:t>
            </a:r>
            <a:endParaRPr lang="ru-RU" sz="2000" spc="-5" dirty="0">
              <a:ea typeface="SimSun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000" spc="-5" dirty="0">
              <a:ea typeface="SimSun" panose="02010600030101010101" pitchFamily="2" charset="-122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6053785-7D9C-AD84-F5FD-355C274C4E84}"/>
              </a:ext>
            </a:extLst>
          </p:cNvPr>
          <p:cNvSpPr/>
          <p:nvPr/>
        </p:nvSpPr>
        <p:spPr>
          <a:xfrm>
            <a:off x="339048" y="6211115"/>
            <a:ext cx="10754032" cy="630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1D7124-51A1-5EA4-69CF-DBF30F1FC674}"/>
              </a:ext>
            </a:extLst>
          </p:cNvPr>
          <p:cNvSpPr txBox="1"/>
          <p:nvPr/>
        </p:nvSpPr>
        <p:spPr>
          <a:xfrm>
            <a:off x="868668" y="6211115"/>
            <a:ext cx="10336007" cy="423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sz="1600" b="1" dirty="0">
                <a:solidFill>
                  <a:srgbClr val="0093CE"/>
                </a:solidFill>
              </a:rPr>
              <a:t>Объектно/шаблонно ориентированный заметочник, </a:t>
            </a:r>
            <a:r>
              <a:rPr lang="en-US" sz="1600" b="1" dirty="0">
                <a:solidFill>
                  <a:srgbClr val="0093CE"/>
                </a:solidFill>
              </a:rPr>
              <a:t>Negative Technologies</a:t>
            </a:r>
            <a:endParaRPr lang="ru-RU" sz="1600" b="1" dirty="0">
              <a:solidFill>
                <a:srgbClr val="0093CE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AB193E5-868A-4385-B572-1D18ACB568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997" y="1609161"/>
            <a:ext cx="609524" cy="60952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E2FA45E-25D6-4850-A6FA-F313B08E7D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511" y="1737750"/>
            <a:ext cx="688584" cy="1262863"/>
          </a:xfrm>
          <a:prstGeom prst="rect">
            <a:avLst/>
          </a:prstGeom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B8E036C0-9971-4C92-528D-257DD7B15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618" y="1570887"/>
            <a:ext cx="609524" cy="68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Picture background">
            <a:extLst>
              <a:ext uri="{FF2B5EF4-FFF2-40B4-BE49-F238E27FC236}">
                <a16:creationId xmlns:a16="http://schemas.microsoft.com/office/drawing/2014/main" id="{9A5EEB32-9136-B478-B5FE-6FE18B31E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665" y="1894242"/>
            <a:ext cx="1021601" cy="1106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122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830C5-CA2F-C192-AA2B-69D40111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C7EEA4-244E-5A40-37ED-632FCB9D6A0A}"/>
              </a:ext>
            </a:extLst>
          </p:cNvPr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6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02D84EE-AE66-21DF-A65B-96962C2B2859}"/>
              </a:ext>
            </a:extLst>
          </p:cNvPr>
          <p:cNvSpPr/>
          <p:nvPr/>
        </p:nvSpPr>
        <p:spPr>
          <a:xfrm>
            <a:off x="339048" y="6211115"/>
            <a:ext cx="10754032" cy="630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9A079C-42D4-49E0-9781-9E66C4C02F78}"/>
              </a:ext>
            </a:extLst>
          </p:cNvPr>
          <p:cNvSpPr txBox="1"/>
          <p:nvPr/>
        </p:nvSpPr>
        <p:spPr>
          <a:xfrm>
            <a:off x="868668" y="6211115"/>
            <a:ext cx="10336007" cy="423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sz="1600" b="1" dirty="0">
                <a:solidFill>
                  <a:srgbClr val="0093CE"/>
                </a:solidFill>
              </a:rPr>
              <a:t>Объектно/шаблонно ориентированный заметочник, </a:t>
            </a:r>
            <a:r>
              <a:rPr lang="en-US" sz="1600" b="1" dirty="0">
                <a:solidFill>
                  <a:srgbClr val="0093CE"/>
                </a:solidFill>
              </a:rPr>
              <a:t>Negative Technologies</a:t>
            </a:r>
            <a:endParaRPr lang="ru-RU" sz="1600" b="1" dirty="0">
              <a:solidFill>
                <a:srgbClr val="0093CE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1EE126-5514-459A-9981-CF5A0A3EF382}"/>
              </a:ext>
            </a:extLst>
          </p:cNvPr>
          <p:cNvSpPr txBox="1"/>
          <p:nvPr/>
        </p:nvSpPr>
        <p:spPr>
          <a:xfrm>
            <a:off x="2351321" y="272964"/>
            <a:ext cx="78986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КЛЮЧЕВЫЕ АЛГОРИТМЫ РАЗРАБАТЫВАЕМОГО ПРИЛОЖЕНИЯ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A56218D-92ED-4585-B0C8-4331558420DC}"/>
              </a:ext>
            </a:extLst>
          </p:cNvPr>
          <p:cNvPicPr/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84" t="1697" r="992" b="1305"/>
          <a:stretch>
            <a:fillRect/>
          </a:stretch>
        </p:blipFill>
        <p:spPr bwMode="auto">
          <a:xfrm>
            <a:off x="3166300" y="1662825"/>
            <a:ext cx="5099527" cy="419114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C1AF3CD-421E-41D9-866E-29DC73608A7B}"/>
              </a:ext>
            </a:extLst>
          </p:cNvPr>
          <p:cNvSpPr txBox="1"/>
          <p:nvPr/>
        </p:nvSpPr>
        <p:spPr>
          <a:xfrm>
            <a:off x="678093" y="1157845"/>
            <a:ext cx="9586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spc="-5" dirty="0">
                <a:ea typeface="SimSun" panose="02010600030101010101" pitchFamily="2" charset="-122"/>
              </a:rPr>
              <a:t>Основные шаги алгоритма обработки изменения содержимого узлов</a:t>
            </a:r>
            <a:r>
              <a:rPr lang="en-US" sz="2000" spc="-5" dirty="0">
                <a:ea typeface="SimSun" panose="02010600030101010101" pitchFamily="2" charset="-122"/>
              </a:rPr>
              <a:t> ProseMirror</a:t>
            </a:r>
            <a:endParaRPr lang="ru-RU" sz="2000" spc="-5" dirty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7625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830C5-CA2F-C192-AA2B-69D40111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044FF3-1785-AAFD-E83E-8A45A199685F}"/>
              </a:ext>
            </a:extLst>
          </p:cNvPr>
          <p:cNvSpPr txBox="1"/>
          <p:nvPr/>
        </p:nvSpPr>
        <p:spPr>
          <a:xfrm>
            <a:off x="2351321" y="301539"/>
            <a:ext cx="78986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КЛЮЧЕВЫЕ АЛГОРИТМЫ РАЗРАБАТЫВАЕМОГО ПРИЛОЖЕНИЯ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7EEA4-244E-5A40-37ED-632FCB9D6A0A}"/>
              </a:ext>
            </a:extLst>
          </p:cNvPr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7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02D84EE-AE66-21DF-A65B-96962C2B2859}"/>
              </a:ext>
            </a:extLst>
          </p:cNvPr>
          <p:cNvSpPr/>
          <p:nvPr/>
        </p:nvSpPr>
        <p:spPr>
          <a:xfrm>
            <a:off x="339048" y="6211115"/>
            <a:ext cx="10754032" cy="630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9A079C-42D4-49E0-9781-9E66C4C02F78}"/>
              </a:ext>
            </a:extLst>
          </p:cNvPr>
          <p:cNvSpPr txBox="1"/>
          <p:nvPr/>
        </p:nvSpPr>
        <p:spPr>
          <a:xfrm>
            <a:off x="868668" y="6211115"/>
            <a:ext cx="10336007" cy="423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sz="1600" b="1" dirty="0">
                <a:solidFill>
                  <a:srgbClr val="0093CE"/>
                </a:solidFill>
              </a:rPr>
              <a:t>Объектно/шаблонно ориентированный заметочник, </a:t>
            </a:r>
            <a:r>
              <a:rPr lang="en-US" sz="1600" b="1" dirty="0">
                <a:solidFill>
                  <a:srgbClr val="0093CE"/>
                </a:solidFill>
              </a:rPr>
              <a:t>Negative Technologies</a:t>
            </a:r>
            <a:endParaRPr lang="ru-RU" sz="1600" b="1" dirty="0">
              <a:solidFill>
                <a:srgbClr val="0093C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F5C796-4F31-40C9-82DA-F443F624E048}"/>
              </a:ext>
            </a:extLst>
          </p:cNvPr>
          <p:cNvSpPr txBox="1"/>
          <p:nvPr/>
        </p:nvSpPr>
        <p:spPr>
          <a:xfrm>
            <a:off x="678093" y="1157845"/>
            <a:ext cx="1020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spc="-5" dirty="0">
                <a:ea typeface="SimSun" panose="02010600030101010101" pitchFamily="2" charset="-122"/>
              </a:rPr>
              <a:t>Основные шаги алгоритма шифрования содержимого заметки</a:t>
            </a:r>
            <a:r>
              <a:rPr lang="en-US" sz="2000" spc="-5" dirty="0">
                <a:ea typeface="SimSun" panose="02010600030101010101" pitchFamily="2" charset="-122"/>
              </a:rPr>
              <a:t>:</a:t>
            </a:r>
            <a:endParaRPr lang="ru-RU" sz="2000" spc="-5" dirty="0">
              <a:ea typeface="SimSun" panose="02010600030101010101" pitchFamily="2" charset="-12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F105481-3FE2-4AF3-9569-CF47C0750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742" y="2071687"/>
            <a:ext cx="9840516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7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830C5-CA2F-C192-AA2B-69D40111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044FF3-1785-AAFD-E83E-8A45A199685F}"/>
              </a:ext>
            </a:extLst>
          </p:cNvPr>
          <p:cNvSpPr txBox="1"/>
          <p:nvPr/>
        </p:nvSpPr>
        <p:spPr>
          <a:xfrm>
            <a:off x="2351321" y="301539"/>
            <a:ext cx="78986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alibri"/>
                <a:cs typeface="Calibri"/>
              </a:rPr>
              <a:t>ОПИСАНИЕ РАЗРАБОТАННОГО ПРОГРАММНОГО ОБЕСПЕЧЕНИЯ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7EEA4-244E-5A40-37ED-632FCB9D6A0A}"/>
              </a:ext>
            </a:extLst>
          </p:cNvPr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8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02D84EE-AE66-21DF-A65B-96962C2B2859}"/>
              </a:ext>
            </a:extLst>
          </p:cNvPr>
          <p:cNvSpPr/>
          <p:nvPr/>
        </p:nvSpPr>
        <p:spPr>
          <a:xfrm>
            <a:off x="339048" y="6211115"/>
            <a:ext cx="10754032" cy="630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9A079C-42D4-49E0-9781-9E66C4C02F78}"/>
              </a:ext>
            </a:extLst>
          </p:cNvPr>
          <p:cNvSpPr txBox="1"/>
          <p:nvPr/>
        </p:nvSpPr>
        <p:spPr>
          <a:xfrm>
            <a:off x="868668" y="6211115"/>
            <a:ext cx="10336007" cy="423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sz="1600" b="1" dirty="0">
                <a:solidFill>
                  <a:srgbClr val="0093CE"/>
                </a:solidFill>
              </a:rPr>
              <a:t>Объектно/шаблонно ориентированный заметочник, </a:t>
            </a:r>
            <a:r>
              <a:rPr lang="en-US" sz="1600" b="1" dirty="0">
                <a:solidFill>
                  <a:srgbClr val="0093CE"/>
                </a:solidFill>
              </a:rPr>
              <a:t>Negative Technologies</a:t>
            </a:r>
            <a:endParaRPr lang="ru-RU" sz="1600" b="1" dirty="0">
              <a:solidFill>
                <a:srgbClr val="0093CE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7B784B9-89C7-B71A-0B25-B05F6A8C4E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440" y="1442721"/>
            <a:ext cx="3996543" cy="39965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12B662-E839-5DBA-0AFB-AF8638F6701A}"/>
              </a:ext>
            </a:extLst>
          </p:cNvPr>
          <p:cNvSpPr txBox="1"/>
          <p:nvPr/>
        </p:nvSpPr>
        <p:spPr>
          <a:xfrm>
            <a:off x="678094" y="1052974"/>
            <a:ext cx="7058346" cy="46612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spc="-5" dirty="0">
                <a:ea typeface="SimSun" panose="02010600030101010101" pitchFamily="2" charset="-122"/>
              </a:rPr>
              <a:t>Характеристики разработанного приложения </a:t>
            </a:r>
            <a:r>
              <a:rPr lang="ru-RU" sz="2000" spc="-5" dirty="0">
                <a:solidFill>
                  <a:srgbClr val="0093CE"/>
                </a:solidFill>
                <a:ea typeface="SimSun" panose="02010600030101010101" pitchFamily="2" charset="-122"/>
              </a:rPr>
              <a:t>Tonpad</a:t>
            </a:r>
            <a:r>
              <a:rPr lang="ru-RU" sz="2000" spc="-5" dirty="0">
                <a:ea typeface="SimSun" panose="02010600030101010101" pitchFamily="2" charset="-122"/>
              </a:rPr>
              <a:t>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Кроссплатформенность (тестировалось на Linux, Windows)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Открытое хранение данных</a:t>
            </a:r>
            <a:endParaRPr lang="en-US" sz="2000" spc="-5" dirty="0">
              <a:ea typeface="SimSun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Минималистичный пользовательский интерфейс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Поддержка базовых операций с файлами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Поддержка гибкого форматирования заметки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Полная поддержка работы со сниппетами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Частичная поддержка работы с шаблонами типа </a:t>
            </a:r>
            <a:r>
              <a:rPr lang="en-US" sz="2000" spc="-5" dirty="0">
                <a:ea typeface="SimSun" panose="02010600030101010101" pitchFamily="2" charset="-122"/>
              </a:rPr>
              <a:t>key-value</a:t>
            </a:r>
            <a:endParaRPr lang="ru-RU" sz="2000" spc="-5" dirty="0">
              <a:ea typeface="SimSun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Гибкий поиск по содержимому заметок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Шифрование заметок с защитой целостности</a:t>
            </a:r>
          </a:p>
        </p:txBody>
      </p:sp>
    </p:spTree>
    <p:extLst>
      <p:ext uri="{BB962C8B-B14F-4D97-AF65-F5344CB8AC3E}">
        <p14:creationId xmlns:p14="http://schemas.microsoft.com/office/powerpoint/2010/main" val="2268698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B0FCC-8562-0003-1D00-CDC1CAAC7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BFDDCE3-BE0B-9C17-40A8-BD5AD3862ABA}"/>
              </a:ext>
            </a:extLst>
          </p:cNvPr>
          <p:cNvSpPr txBox="1"/>
          <p:nvPr/>
        </p:nvSpPr>
        <p:spPr>
          <a:xfrm>
            <a:off x="2351321" y="301539"/>
            <a:ext cx="78986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alibri"/>
                <a:cs typeface="Calibri"/>
              </a:rPr>
              <a:t>ОПИСАНИЕ РАЗРАБОТАННОГО ПРОГРАММНОГО ОБЕСПЕЧЕНИЯ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28EBB9-7E7E-0C22-1C8C-8DECF0624EC9}"/>
              </a:ext>
            </a:extLst>
          </p:cNvPr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9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0B41940-5D76-C979-3252-AFF77994818B}"/>
              </a:ext>
            </a:extLst>
          </p:cNvPr>
          <p:cNvSpPr/>
          <p:nvPr/>
        </p:nvSpPr>
        <p:spPr>
          <a:xfrm>
            <a:off x="339048" y="6211115"/>
            <a:ext cx="10754032" cy="630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49D2ED-D98B-0D6A-77C9-86C993EBDD84}"/>
              </a:ext>
            </a:extLst>
          </p:cNvPr>
          <p:cNvSpPr txBox="1"/>
          <p:nvPr/>
        </p:nvSpPr>
        <p:spPr>
          <a:xfrm>
            <a:off x="868668" y="6211115"/>
            <a:ext cx="10336007" cy="423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sz="1600" b="1" dirty="0">
                <a:solidFill>
                  <a:srgbClr val="0093CE"/>
                </a:solidFill>
              </a:rPr>
              <a:t>Объектно/шаблонно ориентированный заметочник, </a:t>
            </a:r>
            <a:r>
              <a:rPr lang="en-US" sz="1600" b="1" dirty="0">
                <a:solidFill>
                  <a:srgbClr val="0093CE"/>
                </a:solidFill>
              </a:rPr>
              <a:t>Negative Technologies</a:t>
            </a:r>
            <a:endParaRPr lang="ru-RU" sz="1600" b="1" dirty="0">
              <a:solidFill>
                <a:srgbClr val="0093CE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1B6872-99C1-1216-FE3C-3E00E8DAFDB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8" t="3532" r="2480" b="2191"/>
          <a:stretch>
            <a:fillRect/>
          </a:stretch>
        </p:blipFill>
        <p:spPr bwMode="auto">
          <a:xfrm>
            <a:off x="2951220" y="1659723"/>
            <a:ext cx="6289560" cy="444962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838785-70B2-E556-4DF1-A1984B643C43}"/>
              </a:ext>
            </a:extLst>
          </p:cNvPr>
          <p:cNvSpPr txBox="1"/>
          <p:nvPr/>
        </p:nvSpPr>
        <p:spPr>
          <a:xfrm>
            <a:off x="678093" y="1157845"/>
            <a:ext cx="1020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spc="-5" dirty="0">
                <a:ea typeface="SimSun" panose="02010600030101010101" pitchFamily="2" charset="-122"/>
              </a:rPr>
              <a:t>Контекстный уровень </a:t>
            </a:r>
            <a:r>
              <a:rPr lang="en-US" sz="2000" spc="-5" dirty="0">
                <a:ea typeface="SimSun" panose="02010600030101010101" pitchFamily="2" charset="-122"/>
              </a:rPr>
              <a:t>C4-</a:t>
            </a:r>
            <a:r>
              <a:rPr lang="ru-RU" sz="2000" spc="-5" dirty="0">
                <a:ea typeface="SimSun" panose="02010600030101010101" pitchFamily="2" charset="-122"/>
              </a:rPr>
              <a:t>диаграммы</a:t>
            </a:r>
            <a:r>
              <a:rPr lang="en-US" sz="2000" spc="-5" dirty="0">
                <a:ea typeface="SimSun" panose="02010600030101010101" pitchFamily="2" charset="-122"/>
              </a:rPr>
              <a:t>:</a:t>
            </a:r>
            <a:endParaRPr lang="ru-RU" sz="2000" spc="-5" dirty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6619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C05C1-91C9-AD23-E7A2-149B04FD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4BF2046-F688-B219-20CE-093C57EB1AD6}"/>
              </a:ext>
            </a:extLst>
          </p:cNvPr>
          <p:cNvSpPr txBox="1"/>
          <p:nvPr/>
        </p:nvSpPr>
        <p:spPr>
          <a:xfrm>
            <a:off x="2351321" y="301539"/>
            <a:ext cx="78986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alibri"/>
                <a:cs typeface="Calibri"/>
              </a:rPr>
              <a:t>ОПИСАНИЕ РАЗРАБОТАННОГО ПРОГРАММНОГО ОБЕСПЕЧЕНИЯ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5E4FE6-2ABB-84F9-64B8-3A80F671C6B4}"/>
              </a:ext>
            </a:extLst>
          </p:cNvPr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10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5904F1F-D87C-4641-0AD0-81272FEEC692}"/>
              </a:ext>
            </a:extLst>
          </p:cNvPr>
          <p:cNvSpPr/>
          <p:nvPr/>
        </p:nvSpPr>
        <p:spPr>
          <a:xfrm>
            <a:off x="339048" y="6211115"/>
            <a:ext cx="10754032" cy="630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30EB83-025F-70E5-C802-98F7C8A7E730}"/>
              </a:ext>
            </a:extLst>
          </p:cNvPr>
          <p:cNvSpPr txBox="1"/>
          <p:nvPr/>
        </p:nvSpPr>
        <p:spPr>
          <a:xfrm>
            <a:off x="868668" y="6211115"/>
            <a:ext cx="10336007" cy="423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sz="1600" b="1" dirty="0">
                <a:solidFill>
                  <a:srgbClr val="0093CE"/>
                </a:solidFill>
              </a:rPr>
              <a:t>Объектно/шаблонно ориентированный заметочник, </a:t>
            </a:r>
            <a:r>
              <a:rPr lang="en-US" sz="1600" b="1" dirty="0">
                <a:solidFill>
                  <a:srgbClr val="0093CE"/>
                </a:solidFill>
              </a:rPr>
              <a:t>Negative Technologies</a:t>
            </a:r>
            <a:endParaRPr lang="ru-RU" sz="1600" b="1" dirty="0">
              <a:solidFill>
                <a:srgbClr val="0093CE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BDB1D00-8852-25FD-66E9-09E337B7C37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" t="2845" r="1287" b="1731"/>
          <a:stretch>
            <a:fillRect/>
          </a:stretch>
        </p:blipFill>
        <p:spPr bwMode="auto">
          <a:xfrm>
            <a:off x="2239318" y="1656113"/>
            <a:ext cx="7713363" cy="455500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058282-B1B2-AF1C-3D4B-59F2B5F507E5}"/>
              </a:ext>
            </a:extLst>
          </p:cNvPr>
          <p:cNvSpPr txBox="1"/>
          <p:nvPr/>
        </p:nvSpPr>
        <p:spPr>
          <a:xfrm>
            <a:off x="678093" y="1157845"/>
            <a:ext cx="1020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spc="-5" dirty="0">
                <a:ea typeface="SimSun" panose="02010600030101010101" pitchFamily="2" charset="-122"/>
              </a:rPr>
              <a:t>Контейнерный уровень </a:t>
            </a:r>
            <a:r>
              <a:rPr lang="en-US" sz="2000" spc="-5" dirty="0">
                <a:ea typeface="SimSun" panose="02010600030101010101" pitchFamily="2" charset="-122"/>
              </a:rPr>
              <a:t>C4-</a:t>
            </a:r>
            <a:r>
              <a:rPr lang="ru-RU" sz="2000" spc="-5" dirty="0">
                <a:ea typeface="SimSun" panose="02010600030101010101" pitchFamily="2" charset="-122"/>
              </a:rPr>
              <a:t>диаграммы</a:t>
            </a:r>
            <a:r>
              <a:rPr lang="en-US" sz="2000" spc="-5" dirty="0">
                <a:ea typeface="SimSun" panose="02010600030101010101" pitchFamily="2" charset="-122"/>
              </a:rPr>
              <a:t>:</a:t>
            </a:r>
            <a:endParaRPr lang="ru-RU" sz="2000" spc="-5" dirty="0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5364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830C5-CA2F-C192-AA2B-69D40111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044FF3-1785-AAFD-E83E-8A45A199685F}"/>
              </a:ext>
            </a:extLst>
          </p:cNvPr>
          <p:cNvSpPr txBox="1"/>
          <p:nvPr/>
        </p:nvSpPr>
        <p:spPr>
          <a:xfrm>
            <a:off x="2351321" y="301539"/>
            <a:ext cx="78986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alibri"/>
                <a:cs typeface="Calibri"/>
              </a:rPr>
              <a:t>ОСНОВНОЙ ИНТЕРФЕЙС ПРИЛОЖЕНИЯ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7EEA4-244E-5A40-37ED-632FCB9D6A0A}"/>
              </a:ext>
            </a:extLst>
          </p:cNvPr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11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02D84EE-AE66-21DF-A65B-96962C2B2859}"/>
              </a:ext>
            </a:extLst>
          </p:cNvPr>
          <p:cNvSpPr/>
          <p:nvPr/>
        </p:nvSpPr>
        <p:spPr>
          <a:xfrm>
            <a:off x="339048" y="6211115"/>
            <a:ext cx="10754032" cy="630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9A079C-42D4-49E0-9781-9E66C4C02F78}"/>
              </a:ext>
            </a:extLst>
          </p:cNvPr>
          <p:cNvSpPr txBox="1"/>
          <p:nvPr/>
        </p:nvSpPr>
        <p:spPr>
          <a:xfrm>
            <a:off x="868668" y="6211115"/>
            <a:ext cx="10336007" cy="423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sz="1600" b="1" dirty="0">
                <a:solidFill>
                  <a:srgbClr val="0093CE"/>
                </a:solidFill>
              </a:rPr>
              <a:t>Объектно/шаблонно ориентированный заметочник, </a:t>
            </a:r>
            <a:r>
              <a:rPr lang="en-US" sz="1600" b="1" dirty="0">
                <a:solidFill>
                  <a:srgbClr val="0093CE"/>
                </a:solidFill>
              </a:rPr>
              <a:t>Negative Technologies</a:t>
            </a:r>
            <a:endParaRPr lang="ru-RU" sz="1600" b="1" dirty="0">
              <a:solidFill>
                <a:srgbClr val="0093CE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14CE02-5CE8-4E79-BFD3-657ACCAA4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80" y="1159812"/>
            <a:ext cx="4858150" cy="391002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10FA59-6325-9452-3FF9-EE848C508A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67"/>
          <a:stretch>
            <a:fillRect/>
          </a:stretch>
        </p:blipFill>
        <p:spPr>
          <a:xfrm>
            <a:off x="5772151" y="1165345"/>
            <a:ext cx="5889018" cy="391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66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BEE84-AD6C-AD5E-3FE0-94701B7C2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E7BF59A-D090-758F-D832-A76F7B8CA5FA}"/>
              </a:ext>
            </a:extLst>
          </p:cNvPr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12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9E551B3-B404-580C-C151-B089695B54B8}"/>
              </a:ext>
            </a:extLst>
          </p:cNvPr>
          <p:cNvSpPr/>
          <p:nvPr/>
        </p:nvSpPr>
        <p:spPr>
          <a:xfrm>
            <a:off x="339048" y="6211115"/>
            <a:ext cx="10754032" cy="630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88140C-EB72-0E4D-27EA-88736D9A317C}"/>
              </a:ext>
            </a:extLst>
          </p:cNvPr>
          <p:cNvSpPr txBox="1"/>
          <p:nvPr/>
        </p:nvSpPr>
        <p:spPr>
          <a:xfrm>
            <a:off x="868668" y="6211115"/>
            <a:ext cx="10336007" cy="423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sz="1600" b="1" dirty="0">
                <a:solidFill>
                  <a:srgbClr val="0093CE"/>
                </a:solidFill>
              </a:rPr>
              <a:t>Объектно/шаблонно ориентированный заметочник, </a:t>
            </a:r>
            <a:r>
              <a:rPr lang="en-US" sz="1600" b="1" dirty="0">
                <a:solidFill>
                  <a:srgbClr val="0093CE"/>
                </a:solidFill>
              </a:rPr>
              <a:t>Negative Technologies</a:t>
            </a:r>
            <a:endParaRPr lang="ru-RU" sz="1600" b="1" dirty="0">
              <a:solidFill>
                <a:srgbClr val="0093C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E02D19-95FD-CE2F-93AE-EE8C271C0447}"/>
              </a:ext>
            </a:extLst>
          </p:cNvPr>
          <p:cNvSpPr txBox="1"/>
          <p:nvPr/>
        </p:nvSpPr>
        <p:spPr>
          <a:xfrm>
            <a:off x="2351321" y="301539"/>
            <a:ext cx="78986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alibri"/>
                <a:cs typeface="Calibri"/>
              </a:rPr>
              <a:t>ДОСТИГНУТЫЕ РЕЗУЛЬТАТЫ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AE80C8-18E3-1894-9802-349451C205F4}"/>
              </a:ext>
            </a:extLst>
          </p:cNvPr>
          <p:cNvSpPr txBox="1"/>
          <p:nvPr/>
        </p:nvSpPr>
        <p:spPr>
          <a:xfrm>
            <a:off x="868668" y="1472549"/>
            <a:ext cx="9687572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spc="-5" dirty="0">
                <a:solidFill>
                  <a:srgbClr val="0093CE"/>
                </a:solidFill>
                <a:ea typeface="SimSun" panose="02010600030101010101" pitchFamily="2" charset="-122"/>
              </a:rPr>
              <a:t>Удалось достичь следующих результатов: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Разработан качественный и удобный интерфейс.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Разработанное приложение кроссплатформенно.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Заметочник работает быстро.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Достигнуто требование использования шаблонов при работе с приложением.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Реализована удобная работа файлами заметок, директориями и шаблонами.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spc="-5" dirty="0">
                <a:ea typeface="SimSun" panose="02010600030101010101" pitchFamily="2" charset="-122"/>
              </a:rPr>
              <a:t>Реализовано надежное шифрование заметок.</a:t>
            </a:r>
          </a:p>
        </p:txBody>
      </p:sp>
    </p:spTree>
    <p:extLst>
      <p:ext uri="{BB962C8B-B14F-4D97-AF65-F5344CB8AC3E}">
        <p14:creationId xmlns:p14="http://schemas.microsoft.com/office/powerpoint/2010/main" val="1746344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19546E-3D04-7140-3782-756494C51701}"/>
              </a:ext>
            </a:extLst>
          </p:cNvPr>
          <p:cNvSpPr txBox="1"/>
          <p:nvPr/>
        </p:nvSpPr>
        <p:spPr>
          <a:xfrm>
            <a:off x="6627734" y="2613399"/>
            <a:ext cx="3831772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solidFill>
                  <a:prstClr val="white"/>
                </a:solidFill>
                <a:latin typeface="Elektra Text Pro" panose="02000503030000020004" pitchFamily="50" charset="-52"/>
              </a:rPr>
              <a:t>СПАСИБО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lektra Text Pro" panose="02000503030000020004" pitchFamily="50" charset="-52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lektra Text Pro" panose="02000503030000020004" pitchFamily="50" charset="-52"/>
                <a:ea typeface="+mn-ea"/>
                <a:cs typeface="+mn-cs"/>
              </a:rPr>
              <a:t>ЗА ВНИМАНИЕ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9E27BC-0922-5CFB-CD0C-F5C0E1AED1AC}"/>
              </a:ext>
            </a:extLst>
          </p:cNvPr>
          <p:cNvSpPr txBox="1"/>
          <p:nvPr/>
        </p:nvSpPr>
        <p:spPr>
          <a:xfrm>
            <a:off x="6620477" y="4563597"/>
            <a:ext cx="3846286" cy="73866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Elektra Text Pro" panose="02000503030000020004" pitchFamily="50" charset="-52"/>
              </a:rPr>
              <a:t>Negative Technologies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lektra Text Pro" panose="02000503030000020004" pitchFamily="50" charset="-52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lektra Text Pro" panose="02000503030000020004" pitchFamily="50" charset="-52"/>
                <a:ea typeface="+mn-ea"/>
                <a:cs typeface="+mn-cs"/>
              </a:rPr>
              <a:t>8-939-752-29-15,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lektra Text Pro" panose="02000503030000020004" pitchFamily="50" charset="-52"/>
                <a:ea typeface="+mn-ea"/>
                <a:cs typeface="+mn-cs"/>
              </a:rPr>
              <a:t>tomashaytis@gmail.com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lektra Text Pro" panose="02000503030000020004" pitchFamily="50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1246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E8DF2-76B2-2CC4-1E4C-B28AA14E0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6D74B4-A655-8E2E-DF7E-C605BC3FFF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1EB6C7-BE39-1C07-352C-5F6515343996}"/>
              </a:ext>
            </a:extLst>
          </p:cNvPr>
          <p:cNvSpPr txBox="1"/>
          <p:nvPr/>
        </p:nvSpPr>
        <p:spPr>
          <a:xfrm>
            <a:off x="6627734" y="2613399"/>
            <a:ext cx="3831772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solidFill>
                  <a:prstClr val="white"/>
                </a:solidFill>
                <a:latin typeface="Elektra Text Pro" panose="02000503030000020004" pitchFamily="50" charset="-52"/>
              </a:rPr>
              <a:t>СПАСИБО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lektra Text Pro" panose="02000503030000020004" pitchFamily="50" charset="-52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lektra Text Pro" panose="02000503030000020004" pitchFamily="50" charset="-52"/>
                <a:ea typeface="+mn-ea"/>
                <a:cs typeface="+mn-cs"/>
              </a:rPr>
              <a:t>ЗА ВНИМАНИЕ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6B8A6E-D87F-0404-C6B8-34DE29D9ED0C}"/>
              </a:ext>
            </a:extLst>
          </p:cNvPr>
          <p:cNvSpPr txBox="1"/>
          <p:nvPr/>
        </p:nvSpPr>
        <p:spPr>
          <a:xfrm>
            <a:off x="6620477" y="4563597"/>
            <a:ext cx="3846286" cy="73866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Elektra Text Pro" panose="02000503030000020004" pitchFamily="50" charset="-52"/>
              </a:rPr>
              <a:t>Negative Technologies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lektra Text Pro" panose="02000503030000020004" pitchFamily="50" charset="-52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lektra Text Pro" panose="02000503030000020004" pitchFamily="50" charset="-52"/>
                <a:ea typeface="+mn-ea"/>
                <a:cs typeface="+mn-cs"/>
              </a:rPr>
              <a:t>8-939-752-29-15,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lektra Text Pro" panose="02000503030000020004" pitchFamily="50" charset="-52"/>
                <a:ea typeface="+mn-ea"/>
                <a:cs typeface="+mn-cs"/>
              </a:rPr>
              <a:t>tomashaytis@gmail.com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lektra Text Pro" panose="02000503030000020004" pitchFamily="50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271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7990B-3072-EA80-3D45-ABBA9DFD6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995131F-46C7-A0BD-95C0-EB3B5CC25FCE}"/>
              </a:ext>
            </a:extLst>
          </p:cNvPr>
          <p:cNvSpPr txBox="1"/>
          <p:nvPr/>
        </p:nvSpPr>
        <p:spPr>
          <a:xfrm>
            <a:off x="2351321" y="301539"/>
            <a:ext cx="789867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alibri"/>
                <a:cs typeface="Calibri"/>
              </a:rPr>
              <a:t>СТРУКТУРА БАЗЫ ДАННЫХ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8BE14-86E9-846E-054A-BBB8F2EB40B6}"/>
              </a:ext>
            </a:extLst>
          </p:cNvPr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15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54615A8-186F-52F7-AA02-4ACD2C8A3DBF}"/>
              </a:ext>
            </a:extLst>
          </p:cNvPr>
          <p:cNvSpPr/>
          <p:nvPr/>
        </p:nvSpPr>
        <p:spPr>
          <a:xfrm>
            <a:off x="339048" y="6211115"/>
            <a:ext cx="10754032" cy="630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38CF30-C576-116B-B8FE-6DA6E9677902}"/>
              </a:ext>
            </a:extLst>
          </p:cNvPr>
          <p:cNvSpPr txBox="1"/>
          <p:nvPr/>
        </p:nvSpPr>
        <p:spPr>
          <a:xfrm>
            <a:off x="868668" y="6211115"/>
            <a:ext cx="10336007" cy="423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sz="1600" b="1" dirty="0">
                <a:solidFill>
                  <a:srgbClr val="0093CE"/>
                </a:solidFill>
              </a:rPr>
              <a:t>Объектно/шаблонно ориентированный заметочник, </a:t>
            </a:r>
            <a:r>
              <a:rPr lang="en-US" sz="1600" b="1" dirty="0">
                <a:solidFill>
                  <a:srgbClr val="0093CE"/>
                </a:solidFill>
              </a:rPr>
              <a:t>Negative Technologies</a:t>
            </a:r>
            <a:endParaRPr lang="ru-RU" sz="1600" b="1" dirty="0">
              <a:solidFill>
                <a:srgbClr val="0093CE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30B347-B4AB-3E8C-B1AD-8C5953768A07}"/>
              </a:ext>
            </a:extLst>
          </p:cNvPr>
          <p:cNvSpPr txBox="1"/>
          <p:nvPr/>
        </p:nvSpPr>
        <p:spPr>
          <a:xfrm>
            <a:off x="678093" y="1157845"/>
            <a:ext cx="1020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spc="-5" dirty="0">
                <a:ea typeface="SimSun" panose="02010600030101010101" pitchFamily="2" charset="-122"/>
              </a:rPr>
              <a:t>Структура базы данных в разработанном приложении-заметочнике</a:t>
            </a:r>
            <a:r>
              <a:rPr lang="en-US" sz="2000" spc="-5" dirty="0">
                <a:ea typeface="SimSun" panose="02010600030101010101" pitchFamily="2" charset="-122"/>
              </a:rPr>
              <a:t>:</a:t>
            </a:r>
            <a:endParaRPr lang="ru-RU" sz="2000" spc="-5" dirty="0">
              <a:ea typeface="SimSun" panose="02010600030101010101" pitchFamily="2" charset="-12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B5E9F91-826F-C317-08B4-479CDEFF42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128" y="1778257"/>
            <a:ext cx="8217059" cy="42125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18901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2495</TotalTime>
  <Words>729</Words>
  <Application>Microsoft Office PowerPoint</Application>
  <PresentationFormat>Широкоэкранный</PresentationFormat>
  <Paragraphs>145</Paragraphs>
  <Slides>15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SimSun</vt:lpstr>
      <vt:lpstr>Arial</vt:lpstr>
      <vt:lpstr>Calibri</vt:lpstr>
      <vt:lpstr>Calibri Light</vt:lpstr>
      <vt:lpstr>Elektra Medium Pro</vt:lpstr>
      <vt:lpstr>Elektra Text Pro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Степанов</dc:creator>
  <cp:lastModifiedBy>Павел Томашайтис</cp:lastModifiedBy>
  <cp:revision>211</cp:revision>
  <dcterms:created xsi:type="dcterms:W3CDTF">2016-03-09T10:31:39Z</dcterms:created>
  <dcterms:modified xsi:type="dcterms:W3CDTF">2025-12-14T23:37:26Z</dcterms:modified>
</cp:coreProperties>
</file>