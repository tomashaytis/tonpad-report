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72" r:id="rId1"/>
  </p:sldMasterIdLst>
  <p:notesMasterIdLst>
    <p:notesMasterId r:id="rId16"/>
  </p:notesMasterIdLst>
  <p:sldIdLst>
    <p:sldId id="256" r:id="rId2"/>
    <p:sldId id="268" r:id="rId3"/>
    <p:sldId id="269" r:id="rId4"/>
    <p:sldId id="283" r:id="rId5"/>
    <p:sldId id="292" r:id="rId6"/>
    <p:sldId id="284" r:id="rId7"/>
    <p:sldId id="290" r:id="rId8"/>
    <p:sldId id="291" r:id="rId9"/>
    <p:sldId id="294" r:id="rId10"/>
    <p:sldId id="287" r:id="rId11"/>
    <p:sldId id="293" r:id="rId12"/>
    <p:sldId id="267" r:id="rId13"/>
    <p:sldId id="297" r:id="rId14"/>
    <p:sldId id="295" r:id="rId1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3CE"/>
    <a:srgbClr val="D6DCE5"/>
    <a:srgbClr val="5B9BD5"/>
    <a:srgbClr val="EDEDE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5293B27-820F-4A96-A9F6-33524E2DE888}" v="860" dt="2023-09-24T21:14:12.745"/>
    <p1510:client id="{AE71C19F-8B6A-4667-88BB-BE3837602386}" v="287" dt="2023-09-25T13:59:09.80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2" autoAdjust="0"/>
    <p:restoredTop sz="93741" autoAdjust="0"/>
  </p:normalViewPr>
  <p:slideViewPr>
    <p:cSldViewPr snapToGrid="0">
      <p:cViewPr varScale="1">
        <p:scale>
          <a:sx n="62" d="100"/>
          <a:sy n="62" d="100"/>
        </p:scale>
        <p:origin x="804" y="4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D36C68-DDAB-4D09-8E72-8E937BD7768C}" type="datetimeFigureOut">
              <a:rPr lang="ru-RU" smtClean="0"/>
              <a:t>14.12.2025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48289E-2F4B-4BDB-9E3D-307BE649A8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405794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96347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94158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A71B2-FAFD-8E3A-0100-42E689C3D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A166E51-DA3F-DFE5-17CC-4B2D97F33D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6D1DCD9-2209-09D6-20E9-6E40E8EBA1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421BD3-5640-84D8-6B86-7FF7F07301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88300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41646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A71B2-FAFD-8E3A-0100-42E689C3D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A166E51-DA3F-DFE5-17CC-4B2D97F33D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6D1DCD9-2209-09D6-20E9-6E40E8EBA1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421BD3-5640-84D8-6B86-7FF7F07301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63952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A71B2-FAFD-8E3A-0100-42E689C3D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A166E51-DA3F-DFE5-17CC-4B2D97F33D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6D1DCD9-2209-09D6-20E9-6E40E8EBA1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421BD3-5640-84D8-6B86-7FF7F07301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14419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A71B2-FAFD-8E3A-0100-42E689C3D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A166E51-DA3F-DFE5-17CC-4B2D97F33D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6D1DCD9-2209-09D6-20E9-6E40E8EBA1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421BD3-5640-84D8-6B86-7FF7F07301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329395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A80D8-71E6-29C9-CE65-9CFC776D2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AF70A07F-9BD8-6C8A-DBCE-28781B3A05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028FCD52-7E7E-C9D7-DFFE-2B93DC31ED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C0D8C66-BBC4-1CE5-73C8-53E87CCA1E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39531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0A71B2-FAFD-8E3A-0100-42E689C3D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A166E51-DA3F-DFE5-17CC-4B2D97F33D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6D1DCD9-2209-09D6-20E9-6E40E8EBA1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421BD3-5640-84D8-6B86-7FF7F07301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34251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865EF9-F673-403A-3C76-10560FDDBA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67C3AEB5-4CD3-F94F-C858-3B7F1DD854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2B61CC1A-B7C0-582C-36AC-EA43B23BBA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2454689-C808-E444-8808-6722F60B37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206941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E81F5D-7C52-CEEF-BAFA-979C042C7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84D36681-3CB8-AD07-F29D-5C719D9233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ru-RU"/>
          </a:p>
        </p:txBody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E55DFB75-9D27-798F-558E-148669341E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D9F8020-4F0C-C5E6-C38E-31EA0121507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048289E-2F4B-4BDB-9E3D-307BE649A8BF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168060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D2006A-6BE7-43E8-8AD6-C09FC266B36F}" type="datetime1">
              <a:rPr lang="ru-RU" smtClean="0"/>
              <a:t>14.12.2025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18446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13183-B2A1-4784-80CE-65A33D52CB0B}" type="datetime1">
              <a:rPr lang="ru-RU" smtClean="0"/>
              <a:t>14.12.2025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9801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A388E9-D2C3-4436-BFEE-5F0C2E0896FE}" type="datetime1">
              <a:rPr lang="ru-RU" smtClean="0"/>
              <a:t>14.12.2025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87422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A15BC7-66CE-44BA-84C4-ADF5D358A8E5}" type="datetime1">
              <a:rPr lang="ru-RU" smtClean="0"/>
              <a:t>14.12.2025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95025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55F641-8A7B-48BB-9924-29525D09D843}" type="datetime1">
              <a:rPr lang="ru-RU" smtClean="0"/>
              <a:t>14.12.2025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24105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C4CC1A-CDB1-4CBC-83A8-3EB958439194}" type="datetime1">
              <a:rPr lang="ru-RU" smtClean="0"/>
              <a:t>14.12.2025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616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A5C5F1-78C0-4305-B0EC-8CEF047F6C93}" type="datetime1">
              <a:rPr lang="ru-RU" smtClean="0"/>
              <a:t>14.12.2025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41420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F670FB-17C0-4434-90C8-A4668EF13565}" type="datetime1">
              <a:rPr lang="ru-RU" smtClean="0"/>
              <a:t>14.12.2025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52461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A5D1FD-3FC4-47EA-B2EB-FF46800F6009}" type="datetime1">
              <a:rPr lang="ru-RU" smtClean="0"/>
              <a:t>14.12.2025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202748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FD85EE-4AB9-42CD-8126-E74FE77A9ED8}" type="datetime1">
              <a:rPr lang="ru-RU" smtClean="0"/>
              <a:t>14.12.2025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67342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0B916C-83BE-4CC1-8A21-D05CD30C43DB}" type="datetime1">
              <a:rPr lang="ru-RU" smtClean="0"/>
              <a:t>14.12.2025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01803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109404-ED28-47FE-9DC5-C6BCEA110D1D}" type="datetime1">
              <a:rPr lang="ru-RU" smtClean="0"/>
              <a:t>14.12.2025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20F9EB-2112-4866-8AFC-0758B0B74D1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85624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501" y="1713"/>
            <a:ext cx="12192000" cy="68545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606758" y="3133146"/>
            <a:ext cx="3831772" cy="707886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2000" dirty="0">
                <a:solidFill>
                  <a:prstClr val="white"/>
                </a:solidFill>
                <a:latin typeface="Elektra Text Pro" panose="02000503030000020004" pitchFamily="50" charset="-52"/>
              </a:rPr>
              <a:t>Объектно</a:t>
            </a:r>
            <a:r>
              <a:rPr lang="en-US" sz="2000" dirty="0">
                <a:solidFill>
                  <a:prstClr val="white"/>
                </a:solidFill>
                <a:latin typeface="Elektra Text Pro" panose="02000503030000020004" pitchFamily="50" charset="-52"/>
              </a:rPr>
              <a:t>/</a:t>
            </a:r>
            <a:r>
              <a:rPr lang="ru-RU" sz="2000" dirty="0">
                <a:solidFill>
                  <a:prstClr val="white"/>
                </a:solidFill>
                <a:latin typeface="Elektra Text Pro" panose="02000503030000020004" pitchFamily="50" charset="-52"/>
              </a:rPr>
              <a:t>шаблонно ориентированный заметочник</a:t>
            </a:r>
            <a:endParaRPr kumimoji="0" lang="ru-RU" sz="20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Elektra Text Pro" panose="02000503030000020004" pitchFamily="50" charset="-52"/>
              <a:ea typeface="+mn-ea"/>
              <a:cs typeface="+mn-c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599501" y="4682300"/>
            <a:ext cx="3846286" cy="954107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400" dirty="0">
                <a:solidFill>
                  <a:prstClr val="white"/>
                </a:solidFill>
                <a:latin typeface="Elektra Text Pro" panose="02000503030000020004" pitchFamily="50" charset="-52"/>
              </a:rPr>
              <a:t>Команда</a:t>
            </a:r>
            <a:r>
              <a:rPr lang="en-US" sz="1400" dirty="0">
                <a:solidFill>
                  <a:prstClr val="white"/>
                </a:solidFill>
                <a:latin typeface="Elektra Text Pro" panose="02000503030000020004" pitchFamily="50" charset="-52"/>
              </a:rPr>
              <a:t>: Negative Technologies</a:t>
            </a:r>
            <a:br>
              <a:rPr lang="ru-RU" sz="1400" dirty="0">
                <a:solidFill>
                  <a:prstClr val="white"/>
                </a:solidFill>
                <a:latin typeface="Elektra Text Pro" panose="02000503030000020004" pitchFamily="50" charset="-52"/>
              </a:rPr>
            </a:br>
            <a:r>
              <a:rPr lang="ru-RU" sz="1400" dirty="0">
                <a:solidFill>
                  <a:prstClr val="white"/>
                </a:solidFill>
                <a:latin typeface="Elektra Text Pro" panose="02000503030000020004" pitchFamily="50" charset="-52"/>
              </a:rPr>
              <a:t>Участники: Барышников В.С., Елагин Д.Е., Кадников Е.В., Кадников Н.В., Томашайтис П.А.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Научный руководитель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: </a:t>
            </a:r>
            <a:r>
              <a:rPr lang="ru-RU" sz="1400" dirty="0">
                <a:solidFill>
                  <a:prstClr val="white"/>
                </a:solidFill>
                <a:latin typeface="Elektra Text Pro" panose="02000503030000020004" pitchFamily="50" charset="-52"/>
              </a:rPr>
              <a:t>Борисов А.Н.</a:t>
            </a: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Elektra Text Pro" panose="02000503030000020004" pitchFamily="50" charset="-52"/>
              <a:ea typeface="+mn-ea"/>
              <a:cs typeface="+mn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599501" y="6093318"/>
            <a:ext cx="3846286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sz="1400" dirty="0">
                <a:solidFill>
                  <a:schemeClr val="bg1"/>
                </a:solidFill>
                <a:latin typeface="Elektra Text Pro"/>
              </a:rPr>
              <a:t>Самара, 2025</a:t>
            </a:r>
            <a:endParaRPr lang="ru-RU" dirty="0">
              <a:solidFill>
                <a:schemeClr val="bg1"/>
              </a:solidFill>
              <a:latin typeface="Elektra Text Pro"/>
            </a:endParaRPr>
          </a:p>
        </p:txBody>
      </p:sp>
    </p:spTree>
    <p:extLst>
      <p:ext uri="{BB962C8B-B14F-4D97-AF65-F5344CB8AC3E}">
        <p14:creationId xmlns:p14="http://schemas.microsoft.com/office/powerpoint/2010/main" val="34824735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78094" y="1052974"/>
            <a:ext cx="10896771" cy="512294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000" dirty="0">
                <a:solidFill>
                  <a:srgbClr val="0093CE"/>
                </a:solidFill>
              </a:rPr>
              <a:t>Приложения-заметочники </a:t>
            </a:r>
            <a:r>
              <a:rPr lang="ru-RU" sz="2000" dirty="0">
                <a:solidFill>
                  <a:prstClr val="black"/>
                </a:solidFill>
              </a:rPr>
              <a:t>– специальные программы, предназначенные для упрощения ведения заметок пользователем.</a:t>
            </a:r>
          </a:p>
          <a:p>
            <a:pPr>
              <a:lnSpc>
                <a:spcPct val="150000"/>
              </a:lnSpc>
            </a:pPr>
            <a:endParaRPr lang="ru-RU" sz="2000" dirty="0">
              <a:solidFill>
                <a:prstClr val="black"/>
              </a:solidFill>
            </a:endParaRPr>
          </a:p>
          <a:p>
            <a:pPr>
              <a:lnSpc>
                <a:spcPct val="150000"/>
              </a:lnSpc>
            </a:pPr>
            <a:r>
              <a:rPr lang="ru-RU" sz="2000" dirty="0">
                <a:solidFill>
                  <a:prstClr val="black"/>
                </a:solidFill>
              </a:rPr>
              <a:t>Причины, из за которых люди пользуются заметочниками</a:t>
            </a:r>
            <a:r>
              <a:rPr lang="en-US" sz="2000" dirty="0">
                <a:solidFill>
                  <a:prstClr val="black"/>
                </a:solidFill>
              </a:rPr>
              <a:t>: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ru-RU" sz="2000" dirty="0">
                <a:solidFill>
                  <a:prstClr val="black"/>
                </a:solidFill>
              </a:rPr>
              <a:t>Возможность сохранения идей в любое время.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ru-RU" sz="2000" dirty="0">
                <a:solidFill>
                  <a:prstClr val="black"/>
                </a:solidFill>
              </a:rPr>
              <a:t>Стилизация заметок.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ru-RU" sz="2000" dirty="0">
                <a:solidFill>
                  <a:prstClr val="black"/>
                </a:solidFill>
              </a:rPr>
              <a:t>Множество полезных функций для работы с заметками.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ru-RU" sz="2000" dirty="0">
                <a:solidFill>
                  <a:prstClr val="black"/>
                </a:solidFill>
              </a:rPr>
              <a:t>Шаблонизация заметок.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ru-RU" sz="2000" dirty="0">
                <a:solidFill>
                  <a:prstClr val="black"/>
                </a:solidFill>
              </a:rPr>
              <a:t>Синхронизация между устройствами.</a:t>
            </a: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ru-RU" sz="2000" dirty="0">
                <a:solidFill>
                  <a:prstClr val="black"/>
                </a:solidFill>
              </a:rPr>
              <a:t>Гибкая настройка, плагины, темы</a:t>
            </a:r>
            <a:r>
              <a:rPr lang="en-US" sz="2000" dirty="0">
                <a:solidFill>
                  <a:prstClr val="black"/>
                </a:solidFill>
              </a:rPr>
              <a:t>.</a:t>
            </a:r>
            <a:endParaRPr lang="ru-RU" sz="2000" dirty="0">
              <a:solidFill>
                <a:prstClr val="black"/>
              </a:solidFill>
            </a:endParaRPr>
          </a:p>
          <a:p>
            <a:pPr>
              <a:lnSpc>
                <a:spcPct val="150000"/>
              </a:lnSpc>
            </a:pPr>
            <a:endParaRPr lang="ru-RU" sz="2000" dirty="0">
              <a:solidFill>
                <a:prstClr val="black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351321" y="301539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ВВЕДЕНИЕ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2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EA04AAD-95F7-4896-A241-2D64A060511D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FF9D246-7CC0-D109-846D-CD68299A1901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pic>
        <p:nvPicPr>
          <p:cNvPr id="1028" name="Picture 4" descr="Picture background">
            <a:extLst>
              <a:ext uri="{FF2B5EF4-FFF2-40B4-BE49-F238E27FC236}">
                <a16:creationId xmlns:a16="http://schemas.microsoft.com/office/drawing/2014/main" id="{F96E8D57-A15D-53AF-62D3-97B31ED40A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42465" y="3024436"/>
            <a:ext cx="1857707" cy="6424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132EB851-BEBD-11CD-5D28-BF26A65DDB5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20784" y="3670702"/>
            <a:ext cx="2458423" cy="772648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BF812702-7A5B-5A37-DC00-D2952585BCB2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3920" t="20153" r="22475" b="23772"/>
          <a:stretch>
            <a:fillRect/>
          </a:stretch>
        </p:blipFill>
        <p:spPr>
          <a:xfrm>
            <a:off x="7642465" y="4443350"/>
            <a:ext cx="1702452" cy="844265"/>
          </a:xfrm>
          <a:prstGeom prst="rect">
            <a:avLst/>
          </a:prstGeom>
        </p:spPr>
      </p:pic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6F1F00E5-0BA4-4126-DD31-21787237AA55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63972"/>
          <a:stretch>
            <a:fillRect/>
          </a:stretch>
        </p:blipFill>
        <p:spPr>
          <a:xfrm>
            <a:off x="9521539" y="5268277"/>
            <a:ext cx="1584220" cy="592353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3C309562-7C56-2C93-7964-C798D7F3C37F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8277" t="6120" r="23380" b="36556"/>
          <a:stretch>
            <a:fillRect/>
          </a:stretch>
        </p:blipFill>
        <p:spPr>
          <a:xfrm>
            <a:off x="9020784" y="5268277"/>
            <a:ext cx="599671" cy="611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05133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78094" y="1052974"/>
            <a:ext cx="10896771" cy="5021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>
                <a:solidFill>
                  <a:srgbClr val="0093CE"/>
                </a:solidFill>
              </a:rPr>
              <a:t>Цель </a:t>
            </a:r>
            <a:r>
              <a:rPr lang="ru-RU" sz="2400" dirty="0"/>
              <a:t>–</a:t>
            </a:r>
            <a:r>
              <a:rPr lang="en-US" sz="2400" dirty="0"/>
              <a:t> </a:t>
            </a:r>
            <a:r>
              <a:rPr lang="ru-RU" sz="2400" dirty="0"/>
              <a:t>разработать шаблонно-ориентированный заметочник</a:t>
            </a:r>
            <a:r>
              <a:rPr lang="en-US" sz="2400" dirty="0"/>
              <a:t> c </a:t>
            </a:r>
            <a:r>
              <a:rPr lang="ru-RU" sz="2400" dirty="0"/>
              <a:t>удобным </a:t>
            </a:r>
            <a:r>
              <a:rPr lang="en-US" sz="2400" dirty="0"/>
              <a:t>UI</a:t>
            </a:r>
            <a:r>
              <a:rPr lang="ru-RU" sz="2400" dirty="0"/>
              <a:t>, базовыми функциями работы с заметками и возможностью работы с шаблонами.</a:t>
            </a:r>
            <a:r>
              <a:rPr lang="en-US" sz="2400" dirty="0"/>
              <a:t> </a:t>
            </a:r>
          </a:p>
          <a:p>
            <a:pPr>
              <a:lnSpc>
                <a:spcPct val="150000"/>
              </a:lnSpc>
            </a:pPr>
            <a:r>
              <a:rPr lang="ru-RU" sz="2400" dirty="0">
                <a:solidFill>
                  <a:srgbClr val="0093CE"/>
                </a:solidFill>
              </a:rPr>
              <a:t>Задачи: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solidFill>
                  <a:prstClr val="black"/>
                </a:solidFill>
              </a:rPr>
              <a:t>Изучение принципов работы других приложений-заметочников.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solidFill>
                  <a:prstClr val="black"/>
                </a:solidFill>
              </a:rPr>
              <a:t>Разработка прототипа приложения с поддержкой минимальных функций.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solidFill>
                  <a:prstClr val="black"/>
                </a:solidFill>
              </a:rPr>
              <a:t>Разработка текстового движка, как основы приложения.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solidFill>
                  <a:prstClr val="black"/>
                </a:solidFill>
              </a:rPr>
              <a:t>Встраивание текстового движка в приложение.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solidFill>
                  <a:prstClr val="black"/>
                </a:solidFill>
              </a:rPr>
              <a:t>Добавление шаблонов, подключение базы данных.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400" dirty="0">
                <a:solidFill>
                  <a:prstClr val="black"/>
                </a:solidFill>
              </a:rPr>
              <a:t>Добавление продвинутого функционала в движок и в само приложение.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51321" y="272964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ЦЕЛИ И ЗАДАЧИ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3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7B5D0F1-9E67-3A85-9803-6E1D2EC29B3B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EB02C3-8DD5-BD6F-C13C-7FB749B3E95F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24698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F830C5-CA2F-C192-AA2B-69D401113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044FF3-1785-AAFD-E83E-8A45A199685F}"/>
              </a:ext>
            </a:extLst>
          </p:cNvPr>
          <p:cNvSpPr txBox="1"/>
          <p:nvPr/>
        </p:nvSpPr>
        <p:spPr>
          <a:xfrm>
            <a:off x="2351321" y="301539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РАСПРЕДЕЛЕНИЕ РАБОТ ПО УЧАСТНИКАМ КОМАНДЫ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C7EEA4-244E-5A40-37ED-632FCB9D6A0A}"/>
              </a:ext>
            </a:extLst>
          </p:cNvPr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4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02D84EE-AE66-21DF-A65B-96962C2B2859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9A079C-42D4-49E0-9781-9E66C4C02F78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graphicFrame>
        <p:nvGraphicFramePr>
          <p:cNvPr id="2" name="Таблица 1">
            <a:extLst>
              <a:ext uri="{FF2B5EF4-FFF2-40B4-BE49-F238E27FC236}">
                <a16:creationId xmlns:a16="http://schemas.microsoft.com/office/drawing/2014/main" id="{1A9EFFA9-4B67-4327-4256-F088FEB9500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2431773"/>
              </p:ext>
            </p:extLst>
          </p:nvPr>
        </p:nvGraphicFramePr>
        <p:xfrm>
          <a:off x="659255" y="1052970"/>
          <a:ext cx="10963445" cy="51294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2689">
                  <a:extLst>
                    <a:ext uri="{9D8B030D-6E8A-4147-A177-3AD203B41FA5}">
                      <a16:colId xmlns:a16="http://schemas.microsoft.com/office/drawing/2014/main" val="738736299"/>
                    </a:ext>
                  </a:extLst>
                </a:gridCol>
                <a:gridCol w="2192689">
                  <a:extLst>
                    <a:ext uri="{9D8B030D-6E8A-4147-A177-3AD203B41FA5}">
                      <a16:colId xmlns:a16="http://schemas.microsoft.com/office/drawing/2014/main" val="1535143222"/>
                    </a:ext>
                  </a:extLst>
                </a:gridCol>
                <a:gridCol w="2192689">
                  <a:extLst>
                    <a:ext uri="{9D8B030D-6E8A-4147-A177-3AD203B41FA5}">
                      <a16:colId xmlns:a16="http://schemas.microsoft.com/office/drawing/2014/main" val="2715157011"/>
                    </a:ext>
                  </a:extLst>
                </a:gridCol>
                <a:gridCol w="2192689">
                  <a:extLst>
                    <a:ext uri="{9D8B030D-6E8A-4147-A177-3AD203B41FA5}">
                      <a16:colId xmlns:a16="http://schemas.microsoft.com/office/drawing/2014/main" val="4202459892"/>
                    </a:ext>
                  </a:extLst>
                </a:gridCol>
                <a:gridCol w="2192689">
                  <a:extLst>
                    <a:ext uri="{9D8B030D-6E8A-4147-A177-3AD203B41FA5}">
                      <a16:colId xmlns:a16="http://schemas.microsoft.com/office/drawing/2014/main" val="3106238671"/>
                    </a:ext>
                  </a:extLst>
                </a:gridCol>
              </a:tblGrid>
              <a:tr h="825154">
                <a:tc>
                  <a:txBody>
                    <a:bodyPr/>
                    <a:lstStyle/>
                    <a:p>
                      <a:r>
                        <a:rPr lang="ru-RU" dirty="0"/>
                        <a:t>Томашайтис П.А.</a:t>
                      </a:r>
                      <a:br>
                        <a:rPr lang="ru-RU" dirty="0"/>
                      </a:br>
                      <a:r>
                        <a:rPr lang="ru-RU" dirty="0"/>
                        <a:t>(</a:t>
                      </a:r>
                      <a:r>
                        <a:rPr lang="en-US" dirty="0"/>
                        <a:t>Product Owner</a:t>
                      </a:r>
                      <a:r>
                        <a:rPr lang="ru-RU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Елагин Д.Е.</a:t>
                      </a:r>
                    </a:p>
                    <a:p>
                      <a:r>
                        <a:rPr lang="ru-RU" dirty="0"/>
                        <a:t>(</a:t>
                      </a:r>
                      <a:r>
                        <a:rPr lang="en-US" dirty="0"/>
                        <a:t>Scrum Master</a:t>
                      </a:r>
                      <a:r>
                        <a:rPr lang="ru-RU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Барышников В.С.</a:t>
                      </a:r>
                    </a:p>
                    <a:p>
                      <a:r>
                        <a:rPr lang="ru-RU" dirty="0"/>
                        <a:t>(</a:t>
                      </a:r>
                      <a:r>
                        <a:rPr lang="en-US" dirty="0"/>
                        <a:t>Developer</a:t>
                      </a:r>
                      <a:r>
                        <a:rPr lang="ru-RU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Кадников Е.В.</a:t>
                      </a:r>
                      <a:endParaRPr lang="en-US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(</a:t>
                      </a:r>
                      <a:r>
                        <a:rPr lang="en-US" dirty="0"/>
                        <a:t>Developer</a:t>
                      </a:r>
                      <a:r>
                        <a:rPr lang="ru-RU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Кадников Н.В.</a:t>
                      </a:r>
                      <a:endParaRPr lang="en-US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(</a:t>
                      </a:r>
                      <a:r>
                        <a:rPr lang="en-US" dirty="0"/>
                        <a:t>Developer</a:t>
                      </a:r>
                      <a:r>
                        <a:rPr lang="ru-RU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3893843"/>
                  </a:ext>
                </a:extLst>
              </a:tr>
              <a:tr h="825154">
                <a:tc>
                  <a:txBody>
                    <a:bodyPr/>
                    <a:lstStyle/>
                    <a:p>
                      <a:r>
                        <a:rPr lang="ru-RU" dirty="0"/>
                        <a:t>Отчётность по проекту и общение с заказчиком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Механизм выбора базы знаний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Проектирование схемы БД </a:t>
                      </a:r>
                      <a:r>
                        <a:rPr lang="en-US" dirty="0"/>
                        <a:t>SQLite </a:t>
                      </a:r>
                      <a:r>
                        <a:rPr lang="ru-RU" dirty="0"/>
                        <a:t>для приложения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Функция поиска по именам файлов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Поиск по содержимому заметки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36820663"/>
                  </a:ext>
                </a:extLst>
              </a:tr>
              <a:tr h="825154">
                <a:tc>
                  <a:txBody>
                    <a:bodyPr/>
                    <a:lstStyle/>
                    <a:p>
                      <a:r>
                        <a:rPr lang="ru-RU" dirty="0"/>
                        <a:t>Проектирование графического интерфейса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Реализация обработки ошибок в приложении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/>
                        <a:t>Реализация сервиса </a:t>
                      </a:r>
                      <a:r>
                        <a:rPr lang="ru-RU" dirty="0"/>
                        <a:t>для работы с файловой системой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Многовкладочный режим работы в приложении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Реализация подсистемы шифрования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1497592"/>
                  </a:ext>
                </a:extLst>
              </a:tr>
              <a:tr h="825154">
                <a:tc>
                  <a:txBody>
                    <a:bodyPr/>
                    <a:lstStyle/>
                    <a:p>
                      <a:r>
                        <a:rPr lang="ru-RU" dirty="0"/>
                        <a:t>Разработка текстового движка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Проверка базы знаний при входе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Реализация сервиса для работы с БД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Базовые операции с файлами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Создание </a:t>
                      </a:r>
                      <a:r>
                        <a:rPr lang="en-US" dirty="0"/>
                        <a:t>UI </a:t>
                      </a:r>
                      <a:r>
                        <a:rPr lang="ru-RU" dirty="0"/>
                        <a:t>для шифрования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8613441"/>
                  </a:ext>
                </a:extLst>
              </a:tr>
              <a:tr h="825154">
                <a:tc>
                  <a:txBody>
                    <a:bodyPr/>
                    <a:lstStyle/>
                    <a:p>
                      <a:r>
                        <a:rPr lang="ru-RU" dirty="0"/>
                        <a:t>Встраивание текстового движка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Рефакторинг кода на </a:t>
                      </a:r>
                      <a:r>
                        <a:rPr lang="en-US" dirty="0"/>
                        <a:t>Java</a:t>
                      </a:r>
                      <a:r>
                        <a:rPr lang="ru-RU" dirty="0"/>
                        <a:t>, ревью кода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Рефакторинг кода на </a:t>
                      </a:r>
                      <a:r>
                        <a:rPr lang="en-US" dirty="0"/>
                        <a:t>Java</a:t>
                      </a:r>
                      <a:r>
                        <a:rPr lang="ru-RU" dirty="0"/>
                        <a:t>, ревью кода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Создание панели настроек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Переключение тем в приложении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6486726"/>
                  </a:ext>
                </a:extLst>
              </a:tr>
              <a:tr h="825154">
                <a:tc>
                  <a:txBody>
                    <a:bodyPr/>
                    <a:lstStyle/>
                    <a:p>
                      <a:r>
                        <a:rPr lang="ru-RU" dirty="0"/>
                        <a:t>Поиск по файлам, панель стилизации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Работа с </a:t>
                      </a:r>
                      <a:r>
                        <a:rPr lang="en-US" dirty="0"/>
                        <a:t>Markdown, </a:t>
                      </a:r>
                      <a:r>
                        <a:rPr lang="ru-RU" dirty="0"/>
                        <a:t>вставка сниппетов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/>
                        <a:t>Инициализация базы знаний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Улучшение методов шифрования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Сохранение состояния вкладок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184163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544349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2351321" y="134465"/>
            <a:ext cx="7898675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cs typeface="Calibri"/>
              </a:rPr>
              <a:t>МЕТОДЫ</a:t>
            </a:r>
            <a:r>
              <a:rPr lang="en-US" dirty="0">
                <a:solidFill>
                  <a:schemeClr val="bg1"/>
                </a:solidFill>
                <a:latin typeface="Calibri"/>
                <a:cs typeface="Calibri"/>
              </a:rPr>
              <a:t>, </a:t>
            </a:r>
            <a:r>
              <a:rPr lang="ru-RU" dirty="0">
                <a:solidFill>
                  <a:schemeClr val="bg1"/>
                </a:solidFill>
                <a:latin typeface="Calibri"/>
                <a:cs typeface="Calibri"/>
              </a:rPr>
              <a:t>АЛГОРИТМЫ</a:t>
            </a:r>
            <a:r>
              <a:rPr lang="en-US" dirty="0">
                <a:solidFill>
                  <a:schemeClr val="bg1"/>
                </a:solidFill>
                <a:latin typeface="Calibri"/>
                <a:cs typeface="Calibri"/>
              </a:rPr>
              <a:t>, </a:t>
            </a:r>
            <a:r>
              <a:rPr lang="ru-RU" dirty="0">
                <a:solidFill>
                  <a:schemeClr val="bg1"/>
                </a:solidFill>
                <a:latin typeface="Calibri"/>
                <a:cs typeface="Calibri"/>
              </a:rPr>
              <a:t>БИБЛИОТЕКИ</a:t>
            </a:r>
            <a:r>
              <a:rPr lang="en-US" dirty="0">
                <a:solidFill>
                  <a:schemeClr val="bg1"/>
                </a:solidFill>
                <a:latin typeface="Calibri"/>
                <a:cs typeface="Calibri"/>
              </a:rPr>
              <a:t>, </a:t>
            </a:r>
            <a:r>
              <a:rPr lang="ru-RU" dirty="0">
                <a:solidFill>
                  <a:schemeClr val="bg1"/>
                </a:solidFill>
                <a:latin typeface="Calibri"/>
                <a:cs typeface="Calibri"/>
              </a:rPr>
              <a:t>ПРОГРАММНЫЕ СРЕДСТВА ДЛЯ РАЗРАБОТКИ ПРИЛОЖЕНИЯ-ЗАМЕТОЧНИКА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5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07AEC7-D7DD-D1A8-BB80-3E953F7FCEAF}"/>
              </a:ext>
            </a:extLst>
          </p:cNvPr>
          <p:cNvSpPr txBox="1"/>
          <p:nvPr/>
        </p:nvSpPr>
        <p:spPr>
          <a:xfrm>
            <a:off x="678094" y="1052974"/>
            <a:ext cx="10896771" cy="558460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000" spc="-5" dirty="0">
                <a:solidFill>
                  <a:srgbClr val="0093CE"/>
                </a:solidFill>
                <a:ea typeface="SimSun" panose="02010600030101010101" pitchFamily="2" charset="-122"/>
              </a:rPr>
              <a:t>Основные критерии выбора технологического стека разработки :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Кроссплатформенность.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Высокая производительность.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Большой набор возможностей текстового редактора.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Простота и скорость развертывания приложения.</a:t>
            </a:r>
          </a:p>
          <a:p>
            <a:pPr>
              <a:lnSpc>
                <a:spcPct val="150000"/>
              </a:lnSpc>
            </a:pPr>
            <a:r>
              <a:rPr lang="ru-RU" sz="2000" spc="-5" dirty="0">
                <a:solidFill>
                  <a:srgbClr val="0093CE"/>
                </a:solidFill>
                <a:ea typeface="SimSun" panose="02010600030101010101" pitchFamily="2" charset="-122"/>
              </a:rPr>
              <a:t>Выбранный язык программирования и фреймворки, их ключевые достоинства: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Язык программирования: </a:t>
            </a:r>
            <a:r>
              <a:rPr lang="en-US" sz="2000" spc="-5" dirty="0">
                <a:solidFill>
                  <a:srgbClr val="0093CE"/>
                </a:solidFill>
                <a:ea typeface="SimSun" panose="02010600030101010101" pitchFamily="2" charset="-122"/>
              </a:rPr>
              <a:t>Java</a:t>
            </a:r>
            <a:r>
              <a:rPr lang="en-US" sz="2000" spc="-5" dirty="0">
                <a:ea typeface="SimSun" panose="02010600030101010101" pitchFamily="2" charset="-122"/>
              </a:rPr>
              <a:t> – </a:t>
            </a:r>
            <a:r>
              <a:rPr lang="ru-RU" sz="2000" spc="-5" dirty="0">
                <a:ea typeface="SimSun" panose="02010600030101010101" pitchFamily="2" charset="-122"/>
              </a:rPr>
              <a:t>высокопроизводительный и кроссплатформенный.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Для работы с </a:t>
            </a:r>
            <a:r>
              <a:rPr lang="en-US" sz="2000" spc="-5" dirty="0">
                <a:ea typeface="SimSun" panose="02010600030101010101" pitchFamily="2" charset="-122"/>
              </a:rPr>
              <a:t>UI: </a:t>
            </a:r>
            <a:r>
              <a:rPr lang="en-US" sz="2000" spc="-5" dirty="0">
                <a:solidFill>
                  <a:srgbClr val="0093CE"/>
                </a:solidFill>
                <a:ea typeface="SimSun" panose="02010600030101010101" pitchFamily="2" charset="-122"/>
              </a:rPr>
              <a:t>JavaFX</a:t>
            </a:r>
            <a:r>
              <a:rPr lang="en-US" sz="2000" spc="-5" dirty="0">
                <a:ea typeface="SimSun" panose="02010600030101010101" pitchFamily="2" charset="-122"/>
              </a:rPr>
              <a:t> – </a:t>
            </a:r>
            <a:r>
              <a:rPr lang="ru-RU" sz="2000" spc="-5" dirty="0">
                <a:ea typeface="SimSun" panose="02010600030101010101" pitchFamily="2" charset="-122"/>
              </a:rPr>
              <a:t>имеет множество готовых компонентов, легко стилизуется.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СУБД: </a:t>
            </a:r>
            <a:r>
              <a:rPr lang="en-US" sz="2000" spc="-5" dirty="0">
                <a:solidFill>
                  <a:srgbClr val="0093CE"/>
                </a:solidFill>
                <a:ea typeface="SimSun" panose="02010600030101010101" pitchFamily="2" charset="-122"/>
              </a:rPr>
              <a:t>SQLite</a:t>
            </a:r>
            <a:r>
              <a:rPr lang="ru-RU" sz="2000" spc="-5" dirty="0">
                <a:ea typeface="SimSun" panose="02010600030101010101" pitchFamily="2" charset="-122"/>
              </a:rPr>
              <a:t> – </a:t>
            </a:r>
            <a:r>
              <a:rPr lang="ru-RU" sz="2000" spc="-5" dirty="0" err="1">
                <a:ea typeface="SimSun" panose="02010600030101010101" pitchFamily="2" charset="-122"/>
              </a:rPr>
              <a:t>бессерверная</a:t>
            </a:r>
            <a:r>
              <a:rPr lang="ru-RU" sz="2000" spc="-5" dirty="0">
                <a:ea typeface="SimSun" panose="02010600030101010101" pitchFamily="2" charset="-122"/>
              </a:rPr>
              <a:t> и легковесная база данных.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Движок для стилизации заметки:</a:t>
            </a:r>
            <a:r>
              <a:rPr lang="en-US" sz="2000" spc="-5" dirty="0">
                <a:ea typeface="SimSun" panose="02010600030101010101" pitchFamily="2" charset="-122"/>
              </a:rPr>
              <a:t> </a:t>
            </a:r>
            <a:r>
              <a:rPr lang="en-US" sz="2000" spc="-5" dirty="0" err="1">
                <a:solidFill>
                  <a:srgbClr val="0093CE"/>
                </a:solidFill>
                <a:ea typeface="SimSun" panose="02010600030101010101" pitchFamily="2" charset="-122"/>
              </a:rPr>
              <a:t>ProseMirror</a:t>
            </a:r>
            <a:r>
              <a:rPr lang="ru-RU" sz="2000" spc="-5" dirty="0">
                <a:ea typeface="SimSun" panose="02010600030101010101" pitchFamily="2" charset="-122"/>
              </a:rPr>
              <a:t> - </a:t>
            </a:r>
            <a:r>
              <a:rPr lang="ru-RU" sz="2000" dirty="0"/>
              <a:t>структурированная модель документа и транзакционная обработка изменений.</a:t>
            </a:r>
            <a:endParaRPr lang="ru-RU" sz="2000" spc="-5" dirty="0">
              <a:ea typeface="SimSun" panose="02010600030101010101" pitchFamily="2" charset="-122"/>
            </a:endParaRP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sz="2000" spc="-5" dirty="0">
              <a:ea typeface="SimSun" panose="02010600030101010101" pitchFamily="2" charset="-122"/>
            </a:endParaRP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A6053785-7D9C-AD84-F5FD-355C274C4E84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1D7124-51A1-5EA4-69CF-DBF30F1FC674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9AB193E5-868A-4385-B572-1D18ACB5687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0997" y="1609161"/>
            <a:ext cx="609524" cy="609524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EE2FA45E-25D6-4850-A6FA-F313B08E7DB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0511" y="1737750"/>
            <a:ext cx="688584" cy="1262863"/>
          </a:xfrm>
          <a:prstGeom prst="rect">
            <a:avLst/>
          </a:prstGeom>
        </p:spPr>
      </p:pic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B8E036C0-9971-4C92-528D-257DD7B159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28618" y="1570887"/>
            <a:ext cx="609524" cy="6860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Picture background">
            <a:extLst>
              <a:ext uri="{FF2B5EF4-FFF2-40B4-BE49-F238E27FC236}">
                <a16:creationId xmlns:a16="http://schemas.microsoft.com/office/drawing/2014/main" id="{9A5EEB32-9136-B478-B5FE-6FE18B31E0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07665" y="1894242"/>
            <a:ext cx="1021601" cy="11063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21224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F830C5-CA2F-C192-AA2B-69D401113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BC7EEA4-244E-5A40-37ED-632FCB9D6A0A}"/>
              </a:ext>
            </a:extLst>
          </p:cNvPr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6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02D84EE-AE66-21DF-A65B-96962C2B2859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9A079C-42D4-49E0-9781-9E66C4C02F78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D1EE126-5514-459A-9981-CF5A0A3EF382}"/>
              </a:ext>
            </a:extLst>
          </p:cNvPr>
          <p:cNvSpPr txBox="1"/>
          <p:nvPr/>
        </p:nvSpPr>
        <p:spPr>
          <a:xfrm>
            <a:off x="2351321" y="272964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КЛЮЧЕВЫЕ АЛГОРИТМЫ РАЗРАБАТЫВАЕМОГО ПРИЛОЖЕНИЯ</a:t>
            </a:r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4A56218D-92ED-4585-B0C8-4331558420DC}"/>
              </a:ext>
            </a:extLst>
          </p:cNvPr>
          <p:cNvPicPr/>
          <p:nvPr/>
        </p:nvPicPr>
        <p:blipFill rotWithShape="1"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2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184" t="1697" r="992" b="1305"/>
          <a:stretch>
            <a:fillRect/>
          </a:stretch>
        </p:blipFill>
        <p:spPr bwMode="auto">
          <a:xfrm>
            <a:off x="3166300" y="1662825"/>
            <a:ext cx="5099527" cy="4191144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CC1AF3CD-421E-41D9-866E-29DC73608A7B}"/>
              </a:ext>
            </a:extLst>
          </p:cNvPr>
          <p:cNvSpPr txBox="1"/>
          <p:nvPr/>
        </p:nvSpPr>
        <p:spPr>
          <a:xfrm>
            <a:off x="678093" y="1157845"/>
            <a:ext cx="958673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spc="-5" dirty="0">
                <a:ea typeface="SimSun" panose="02010600030101010101" pitchFamily="2" charset="-122"/>
              </a:rPr>
              <a:t>Основные шаги алгоритма обработки изменения содержимого узлов</a:t>
            </a:r>
            <a:r>
              <a:rPr lang="en-US" sz="2000" spc="-5" dirty="0">
                <a:ea typeface="SimSun" panose="02010600030101010101" pitchFamily="2" charset="-122"/>
              </a:rPr>
              <a:t> ProseMirror</a:t>
            </a:r>
            <a:endParaRPr lang="ru-RU" sz="2000" spc="-5" dirty="0">
              <a:ea typeface="SimSun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676253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F830C5-CA2F-C192-AA2B-69D401113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044FF3-1785-AAFD-E83E-8A45A199685F}"/>
              </a:ext>
            </a:extLst>
          </p:cNvPr>
          <p:cNvSpPr txBox="1"/>
          <p:nvPr/>
        </p:nvSpPr>
        <p:spPr>
          <a:xfrm>
            <a:off x="2351321" y="301539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ea typeface="Calibri"/>
                <a:cs typeface="Calibri"/>
              </a:rPr>
              <a:t>КЛЮЧЕВЫЕ АЛГОРИТМЫ РАЗРАБАТЫВАЕМОГО ПРИЛОЖЕНИЯ</a:t>
            </a:r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C7EEA4-244E-5A40-37ED-632FCB9D6A0A}"/>
              </a:ext>
            </a:extLst>
          </p:cNvPr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7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02D84EE-AE66-21DF-A65B-96962C2B2859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9A079C-42D4-49E0-9781-9E66C4C02F78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EF5C796-4F31-40C9-82DA-F443F624E048}"/>
              </a:ext>
            </a:extLst>
          </p:cNvPr>
          <p:cNvSpPr txBox="1"/>
          <p:nvPr/>
        </p:nvSpPr>
        <p:spPr>
          <a:xfrm>
            <a:off x="678093" y="1157845"/>
            <a:ext cx="102022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spc="-5" dirty="0">
                <a:ea typeface="SimSun" panose="02010600030101010101" pitchFamily="2" charset="-122"/>
              </a:rPr>
              <a:t>Основные шаги алгоритма шифрования содержимого заметки</a:t>
            </a:r>
            <a:r>
              <a:rPr lang="en-US" sz="2000" spc="-5" dirty="0">
                <a:ea typeface="SimSun" panose="02010600030101010101" pitchFamily="2" charset="-122"/>
              </a:rPr>
              <a:t>:</a:t>
            </a:r>
            <a:endParaRPr lang="ru-RU" sz="2000" spc="-5" dirty="0">
              <a:ea typeface="SimSun" panose="02010600030101010101" pitchFamily="2" charset="-122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EF105481-3FE2-4AF3-9569-CF47C07504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75742" y="2071687"/>
            <a:ext cx="9840516" cy="2714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2979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F830C5-CA2F-C192-AA2B-69D401113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044FF3-1785-AAFD-E83E-8A45A199685F}"/>
              </a:ext>
            </a:extLst>
          </p:cNvPr>
          <p:cNvSpPr txBox="1"/>
          <p:nvPr/>
        </p:nvSpPr>
        <p:spPr>
          <a:xfrm>
            <a:off x="2351321" y="301539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cs typeface="Calibri"/>
              </a:rPr>
              <a:t>ОПИСАНИЕ РАЗРАБОТАННОГО ПРОГРАММНОГО ОБЕСПЕЧЕНИЯ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C7EEA4-244E-5A40-37ED-632FCB9D6A0A}"/>
              </a:ext>
            </a:extLst>
          </p:cNvPr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8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02D84EE-AE66-21DF-A65B-96962C2B2859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9A079C-42D4-49E0-9781-9E66C4C02F78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AEA7981-642B-F219-96AF-EC036001639D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48" t="3532" r="2480" b="2191"/>
          <a:stretch>
            <a:fillRect/>
          </a:stretch>
        </p:blipFill>
        <p:spPr bwMode="auto">
          <a:xfrm>
            <a:off x="2951220" y="1659723"/>
            <a:ext cx="6289560" cy="4449623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56444F0-8580-A883-71F9-83730DBE62E3}"/>
              </a:ext>
            </a:extLst>
          </p:cNvPr>
          <p:cNvSpPr txBox="1"/>
          <p:nvPr/>
        </p:nvSpPr>
        <p:spPr>
          <a:xfrm>
            <a:off x="678093" y="1157845"/>
            <a:ext cx="102022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spc="-5" dirty="0">
                <a:ea typeface="SimSun" panose="02010600030101010101" pitchFamily="2" charset="-122"/>
              </a:rPr>
              <a:t>Контекстный уровень </a:t>
            </a:r>
            <a:r>
              <a:rPr lang="en-US" sz="2000" spc="-5" dirty="0">
                <a:ea typeface="SimSun" panose="02010600030101010101" pitchFamily="2" charset="-122"/>
              </a:rPr>
              <a:t>C4-</a:t>
            </a:r>
            <a:r>
              <a:rPr lang="ru-RU" sz="2000" spc="-5" dirty="0">
                <a:ea typeface="SimSun" panose="02010600030101010101" pitchFamily="2" charset="-122"/>
              </a:rPr>
              <a:t>диаграммы</a:t>
            </a:r>
            <a:r>
              <a:rPr lang="en-US" sz="2000" spc="-5" dirty="0">
                <a:ea typeface="SimSun" panose="02010600030101010101" pitchFamily="2" charset="-122"/>
              </a:rPr>
              <a:t>:</a:t>
            </a:r>
            <a:endParaRPr lang="ru-RU" sz="2000" spc="-5" dirty="0">
              <a:ea typeface="SimSun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2686983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CC05C1-91C9-AD23-E7A2-149B04FD7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44BF2046-F688-B219-20CE-093C57EB1AD6}"/>
              </a:ext>
            </a:extLst>
          </p:cNvPr>
          <p:cNvSpPr txBox="1"/>
          <p:nvPr/>
        </p:nvSpPr>
        <p:spPr>
          <a:xfrm>
            <a:off x="2351321" y="301539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cs typeface="Calibri"/>
              </a:rPr>
              <a:t>ОПИСАНИЕ РАЗРАБОТАННОГО ПРОГРАММНОГО ОБЕСПЕЧЕНИЯ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5E4FE6-2ABB-84F9-64B8-3A80F671C6B4}"/>
              </a:ext>
            </a:extLst>
          </p:cNvPr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9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A5904F1F-D87C-4641-0AD0-81272FEEC692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30EB83-025F-70E5-C802-98F7C8A7E730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5BDB1D00-8852-25FD-66E9-09E337B7C372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67" t="2845" r="1287" b="1731"/>
          <a:stretch>
            <a:fillRect/>
          </a:stretch>
        </p:blipFill>
        <p:spPr bwMode="auto">
          <a:xfrm>
            <a:off x="2239318" y="1656113"/>
            <a:ext cx="7713363" cy="4555002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3058282-B1B2-AF1C-3D4B-59F2B5F507E5}"/>
              </a:ext>
            </a:extLst>
          </p:cNvPr>
          <p:cNvSpPr txBox="1"/>
          <p:nvPr/>
        </p:nvSpPr>
        <p:spPr>
          <a:xfrm>
            <a:off x="678093" y="1157845"/>
            <a:ext cx="102022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spc="-5" dirty="0">
                <a:ea typeface="SimSun" panose="02010600030101010101" pitchFamily="2" charset="-122"/>
              </a:rPr>
              <a:t>Контейнерный уровень </a:t>
            </a:r>
            <a:r>
              <a:rPr lang="en-US" sz="2000" spc="-5" dirty="0">
                <a:ea typeface="SimSun" panose="02010600030101010101" pitchFamily="2" charset="-122"/>
              </a:rPr>
              <a:t>C4-</a:t>
            </a:r>
            <a:r>
              <a:rPr lang="ru-RU" sz="2000" spc="-5" dirty="0">
                <a:ea typeface="SimSun" panose="02010600030101010101" pitchFamily="2" charset="-122"/>
              </a:rPr>
              <a:t>диаграммы</a:t>
            </a:r>
            <a:r>
              <a:rPr lang="en-US" sz="2000" spc="-5" dirty="0">
                <a:ea typeface="SimSun" panose="02010600030101010101" pitchFamily="2" charset="-122"/>
              </a:rPr>
              <a:t>:</a:t>
            </a:r>
            <a:endParaRPr lang="ru-RU" sz="2000" spc="-5" dirty="0">
              <a:ea typeface="SimSun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753642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7F830C5-CA2F-C192-AA2B-69D401113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044FF3-1785-AAFD-E83E-8A45A199685F}"/>
              </a:ext>
            </a:extLst>
          </p:cNvPr>
          <p:cNvSpPr txBox="1"/>
          <p:nvPr/>
        </p:nvSpPr>
        <p:spPr>
          <a:xfrm>
            <a:off x="2351321" y="301539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cs typeface="Calibri"/>
              </a:rPr>
              <a:t>ОСНОВНОЙ ИНТЕРФЕЙС ПРИЛОЖЕНИЯ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C7EEA4-244E-5A40-37ED-632FCB9D6A0A}"/>
              </a:ext>
            </a:extLst>
          </p:cNvPr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10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C02D84EE-AE66-21DF-A65B-96962C2B2859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89A079C-42D4-49E0-9781-9E66C4C02F78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914CE02-5CE8-4E79-BFD3-657ACCAA40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880" y="1159812"/>
            <a:ext cx="4858150" cy="3910028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7910FA59-6325-9452-3FF9-EE848C508A3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367"/>
          <a:stretch>
            <a:fillRect/>
          </a:stretch>
        </p:blipFill>
        <p:spPr>
          <a:xfrm>
            <a:off x="5772151" y="1165345"/>
            <a:ext cx="5889018" cy="391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0669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E7BEE84-AD6C-AD5E-3FE0-94701B7C2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E7BF59A-D090-758F-D832-A76F7B8CA5FA}"/>
              </a:ext>
            </a:extLst>
          </p:cNvPr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11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D9E551B3-B404-580C-C151-B089695B54B8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288140C-EB72-0E4D-27EA-88736D9A317C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2E02D19-95FD-CE2F-93AE-EE8C271C0447}"/>
              </a:ext>
            </a:extLst>
          </p:cNvPr>
          <p:cNvSpPr txBox="1"/>
          <p:nvPr/>
        </p:nvSpPr>
        <p:spPr>
          <a:xfrm>
            <a:off x="2351321" y="301539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cs typeface="Calibri"/>
              </a:rPr>
              <a:t>ДОСТИГНУТЫЕ РЕЗУЛЬТАТЫ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AE80C8-18E3-1894-9802-349451C205F4}"/>
              </a:ext>
            </a:extLst>
          </p:cNvPr>
          <p:cNvSpPr txBox="1"/>
          <p:nvPr/>
        </p:nvSpPr>
        <p:spPr>
          <a:xfrm>
            <a:off x="868668" y="1472549"/>
            <a:ext cx="9687572" cy="32762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000" spc="-5" dirty="0">
                <a:solidFill>
                  <a:srgbClr val="0093CE"/>
                </a:solidFill>
                <a:ea typeface="SimSun" panose="02010600030101010101" pitchFamily="2" charset="-122"/>
              </a:rPr>
              <a:t>Удалось достичь следующих результатов: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Разработан качественный и удобный интерфейс.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Разработанное приложение кроссплатформенно.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Заметочник работает быстро.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Достигнуто требование использования шаблонов при работе с приложением.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Реализована удобная работа файлами заметок, директориями и шаблонами.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ru-RU" sz="2000" spc="-5" dirty="0">
                <a:ea typeface="SimSun" panose="02010600030101010101" pitchFamily="2" charset="-122"/>
              </a:rPr>
              <a:t>Реализовано надежное шифрование заметок.</a:t>
            </a:r>
          </a:p>
        </p:txBody>
      </p:sp>
    </p:spTree>
    <p:extLst>
      <p:ext uri="{BB962C8B-B14F-4D97-AF65-F5344CB8AC3E}">
        <p14:creationId xmlns:p14="http://schemas.microsoft.com/office/powerpoint/2010/main" val="17463448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13"/>
            <a:ext cx="12192000" cy="685457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419546E-3D04-7140-3782-756494C51701}"/>
              </a:ext>
            </a:extLst>
          </p:cNvPr>
          <p:cNvSpPr txBox="1"/>
          <p:nvPr/>
        </p:nvSpPr>
        <p:spPr>
          <a:xfrm>
            <a:off x="6627734" y="2613399"/>
            <a:ext cx="3831772" cy="830997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2400" b="1" dirty="0">
                <a:solidFill>
                  <a:prstClr val="white"/>
                </a:solidFill>
                <a:latin typeface="Elektra Text Pro" panose="02000503030000020004" pitchFamily="50" charset="-52"/>
              </a:rPr>
              <a:t>СПАСИБО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ЗА ВНИМАНИЕ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9E27BC-0922-5CFB-CD0C-F5C0E1AED1AC}"/>
              </a:ext>
            </a:extLst>
          </p:cNvPr>
          <p:cNvSpPr txBox="1"/>
          <p:nvPr/>
        </p:nvSpPr>
        <p:spPr>
          <a:xfrm>
            <a:off x="6620477" y="4563597"/>
            <a:ext cx="3846286" cy="738664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Elektra Text Pro" panose="02000503030000020004" pitchFamily="50" charset="-52"/>
              </a:rPr>
              <a:t>Negative Technologies</a:t>
            </a: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8-939-752-29-15,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tomashaytis@gmail.com</a:t>
            </a: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Elektra Text Pro" panose="02000503030000020004" pitchFamily="50" charset="-52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512463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E8DF2-76B2-2CC4-1E4C-B28AA14E0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A6D74B4-A655-8E2E-DF7E-C605BC3FFF1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13"/>
            <a:ext cx="12192000" cy="685457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61EB6C7-BE39-1C07-352C-5F6515343996}"/>
              </a:ext>
            </a:extLst>
          </p:cNvPr>
          <p:cNvSpPr txBox="1"/>
          <p:nvPr/>
        </p:nvSpPr>
        <p:spPr>
          <a:xfrm>
            <a:off x="6627734" y="2613399"/>
            <a:ext cx="3831772" cy="830997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2400" b="1" dirty="0">
                <a:solidFill>
                  <a:prstClr val="white"/>
                </a:solidFill>
                <a:latin typeface="Elektra Text Pro" panose="02000503030000020004" pitchFamily="50" charset="-52"/>
              </a:rPr>
              <a:t>СПАСИБО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ЗА ВНИМАНИЕ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6B8A6E-D87F-0404-C6B8-34DE29D9ED0C}"/>
              </a:ext>
            </a:extLst>
          </p:cNvPr>
          <p:cNvSpPr txBox="1"/>
          <p:nvPr/>
        </p:nvSpPr>
        <p:spPr>
          <a:xfrm>
            <a:off x="6620477" y="4563597"/>
            <a:ext cx="3846286" cy="738664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400" dirty="0">
                <a:solidFill>
                  <a:prstClr val="white"/>
                </a:solidFill>
                <a:latin typeface="Elektra Text Pro" panose="02000503030000020004" pitchFamily="50" charset="-52"/>
              </a:rPr>
              <a:t>Negative Technologies</a:t>
            </a: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8-939-752-29-15,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Elektra Text Pro" panose="02000503030000020004" pitchFamily="50" charset="-52"/>
                <a:ea typeface="+mn-ea"/>
                <a:cs typeface="+mn-cs"/>
              </a:rPr>
              <a:t>tomashaytis@gmail.com</a:t>
            </a:r>
            <a:endParaRPr kumimoji="0" lang="ru-RU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Elektra Text Pro" panose="02000503030000020004" pitchFamily="50" charset="-52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212713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97990B-3072-EA80-3D45-ABBA9DFD6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E995131F-46C7-A0BD-95C0-EB3B5CC25FCE}"/>
              </a:ext>
            </a:extLst>
          </p:cNvPr>
          <p:cNvSpPr txBox="1"/>
          <p:nvPr/>
        </p:nvSpPr>
        <p:spPr>
          <a:xfrm>
            <a:off x="2351321" y="301539"/>
            <a:ext cx="7898675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ctr" anchorCtr="1">
            <a:spAutoFit/>
          </a:bodyPr>
          <a:lstStyle/>
          <a:p>
            <a:pPr algn="ctr"/>
            <a:r>
              <a:rPr lang="ru-RU" dirty="0">
                <a:solidFill>
                  <a:schemeClr val="bg1"/>
                </a:solidFill>
                <a:latin typeface="Calibri"/>
                <a:cs typeface="Calibri"/>
              </a:rPr>
              <a:t>СТРУКТУРА БАЗЫ ДАННЫХ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78BE14-86E9-846E-054A-BBB8F2EB40B6}"/>
              </a:ext>
            </a:extLst>
          </p:cNvPr>
          <p:cNvSpPr txBox="1"/>
          <p:nvPr/>
        </p:nvSpPr>
        <p:spPr>
          <a:xfrm>
            <a:off x="11105759" y="6341149"/>
            <a:ext cx="4691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fld id="{9E79BFED-6ECD-4563-B483-CEA192FFFCCF}" type="slidenum">
              <a:rPr lang="ru-RU">
                <a:solidFill>
                  <a:schemeClr val="bg1"/>
                </a:solidFill>
                <a:latin typeface="Elektra Medium Pro" panose="02000803000000020004" pitchFamily="50" charset="-52"/>
              </a:rPr>
              <a:t>14</a:t>
            </a:fld>
            <a:endParaRPr lang="ru-RU" dirty="0">
              <a:solidFill>
                <a:schemeClr val="bg1"/>
              </a:solidFill>
              <a:latin typeface="Elektra Medium Pro" panose="02000803000000020004" pitchFamily="50" charset="-52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954615A8-186F-52F7-AA02-4ACD2C8A3DBF}"/>
              </a:ext>
            </a:extLst>
          </p:cNvPr>
          <p:cNvSpPr/>
          <p:nvPr/>
        </p:nvSpPr>
        <p:spPr>
          <a:xfrm>
            <a:off x="339048" y="6211115"/>
            <a:ext cx="10754032" cy="63067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38CF30-C576-116B-B8FE-6DA6E9677902}"/>
              </a:ext>
            </a:extLst>
          </p:cNvPr>
          <p:cNvSpPr txBox="1"/>
          <p:nvPr/>
        </p:nvSpPr>
        <p:spPr>
          <a:xfrm>
            <a:off x="868668" y="6211115"/>
            <a:ext cx="10336007" cy="42344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sz="1600" b="1" dirty="0">
                <a:solidFill>
                  <a:srgbClr val="0093CE"/>
                </a:solidFill>
              </a:rPr>
              <a:t>Объектно/шаблонно ориентированный заметочник, </a:t>
            </a:r>
            <a:r>
              <a:rPr lang="en-US" sz="1600" b="1" dirty="0">
                <a:solidFill>
                  <a:srgbClr val="0093CE"/>
                </a:solidFill>
              </a:rPr>
              <a:t>Negative Technologies</a:t>
            </a:r>
            <a:endParaRPr lang="ru-RU" sz="1600" b="1" dirty="0">
              <a:solidFill>
                <a:srgbClr val="0093CE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730B347-B4AB-3E8C-B1AD-8C5953768A07}"/>
              </a:ext>
            </a:extLst>
          </p:cNvPr>
          <p:cNvSpPr txBox="1"/>
          <p:nvPr/>
        </p:nvSpPr>
        <p:spPr>
          <a:xfrm>
            <a:off x="678093" y="1157845"/>
            <a:ext cx="102022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spc="-5" dirty="0">
                <a:ea typeface="SimSun" panose="02010600030101010101" pitchFamily="2" charset="-122"/>
              </a:rPr>
              <a:t>Структура базы данных в разработанном приложении-заметочнике</a:t>
            </a:r>
            <a:r>
              <a:rPr lang="en-US" sz="2000" spc="-5" dirty="0">
                <a:ea typeface="SimSun" panose="02010600030101010101" pitchFamily="2" charset="-122"/>
              </a:rPr>
              <a:t>:</a:t>
            </a:r>
            <a:endParaRPr lang="ru-RU" sz="2000" spc="-5" dirty="0">
              <a:ea typeface="SimSun" panose="02010600030101010101" pitchFamily="2" charset="-122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B5E9F91-826F-C317-08B4-479CDEFF424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2128" y="1778257"/>
            <a:ext cx="8217059" cy="421255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99189013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2340</TotalTime>
  <Words>665</Words>
  <Application>Microsoft Office PowerPoint</Application>
  <PresentationFormat>Широкоэкранный</PresentationFormat>
  <Paragraphs>131</Paragraphs>
  <Slides>14</Slides>
  <Notes>11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21" baseType="lpstr">
      <vt:lpstr>SimSun</vt:lpstr>
      <vt:lpstr>Arial</vt:lpstr>
      <vt:lpstr>Calibri</vt:lpstr>
      <vt:lpstr>Calibri Light</vt:lpstr>
      <vt:lpstr>Elektra Medium Pro</vt:lpstr>
      <vt:lpstr>Elektra Text Pro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Евгений Степанов</dc:creator>
  <cp:lastModifiedBy>Павел Томашайтис</cp:lastModifiedBy>
  <cp:revision>210</cp:revision>
  <dcterms:created xsi:type="dcterms:W3CDTF">2016-03-09T10:31:39Z</dcterms:created>
  <dcterms:modified xsi:type="dcterms:W3CDTF">2025-12-14T13:51:43Z</dcterms:modified>
</cp:coreProperties>
</file>